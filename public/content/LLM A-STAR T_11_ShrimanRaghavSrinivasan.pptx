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A0657-F82A-CF6C-988B-58203520BF60}" v="2563" dt="2025-04-15T01:58:50.6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4763-C3DC-0467-D492-7B4353AC9D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1791" y="445754"/>
            <a:ext cx="9388415" cy="153761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Paper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9FC8F-7B19-0ABB-38CD-4020032D5C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01791" y="2124001"/>
            <a:ext cx="9388415" cy="78191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First Author, et al. </a:t>
            </a:r>
            <a:br>
              <a:rPr lang="en-US"/>
            </a:br>
            <a:r>
              <a:rPr lang="en-US"/>
              <a:t>Publication, Year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E8C4F-EF06-C21D-609F-9A52B04037B3}"/>
              </a:ext>
            </a:extLst>
          </p:cNvPr>
          <p:cNvSpPr/>
          <p:nvPr userDrawn="1"/>
        </p:nvSpPr>
        <p:spPr>
          <a:xfrm>
            <a:off x="0" y="3429001"/>
            <a:ext cx="12192000" cy="3429000"/>
          </a:xfrm>
          <a:prstGeom prst="rect">
            <a:avLst/>
          </a:prstGeom>
          <a:solidFill>
            <a:srgbClr val="ED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A5BC35C-0559-1E38-63D7-08137818A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1791" y="3712718"/>
            <a:ext cx="9388415" cy="4191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Your Name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9076509-2FAB-FE12-55CC-74FE03BB2E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1791" y="4351548"/>
            <a:ext cx="9388415" cy="2230407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Aspect of the paper implemented</a:t>
            </a:r>
          </a:p>
        </p:txBody>
      </p:sp>
    </p:spTree>
    <p:extLst>
      <p:ext uri="{BB962C8B-B14F-4D97-AF65-F5344CB8AC3E}">
        <p14:creationId xmlns:p14="http://schemas.microsoft.com/office/powerpoint/2010/main" val="3633434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61EE-92DA-BECE-9F7A-71508933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03FB0-6A97-B316-1E89-ADA755DC7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7475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18A8-0D09-1809-E7EE-FFB990E8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529B-C466-4DB8-55CA-67B1FE8FB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803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F274-10A7-C7E5-0BD2-31C43CDFA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10772-5329-FFD3-E651-29C57B723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AF120-D09E-F1B1-D2CF-89DC671D4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516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BBEA-0F67-469A-556F-C8D9D3D6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7F3F8-0264-18B9-0157-84AD89FEE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30E95-73B0-3C8A-FD8B-92AC27B78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05DF8-4849-054E-58B2-D7AC0882E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7F09C-C5FA-4FED-88B0-5E71BE6D9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159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5E39-026A-27A8-C74C-07A48769A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926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98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0BF0-B578-0442-24B7-757543F5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509BB7-D615-FE44-602E-1D66C768F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79745-DC76-E9CD-FFB5-D322B05CD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169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A0CC42F-8F77-4C3C-B4A0-F1C5B49E4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9883215" y="47812"/>
            <a:ext cx="1464236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1606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C612D7B2-EAD8-4037-A557-8E162F170C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4" t="28182"/>
          <a:stretch/>
        </p:blipFill>
        <p:spPr>
          <a:xfrm>
            <a:off x="9883215" y="47812"/>
            <a:ext cx="1464236" cy="6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2695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EA200-2A79-F4D1-968E-B8D888F7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AE569-0FCE-FEE2-1892-D5ADD86A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668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9021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432021"/>
            <a:ext cx="10515600" cy="4091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 rot="5400000">
            <a:off x="5744677" y="-5744679"/>
            <a:ext cx="702644" cy="121920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/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-2" y="702642"/>
            <a:ext cx="12192002" cy="35022"/>
          </a:xfrm>
          <a:prstGeom prst="line">
            <a:avLst/>
          </a:prstGeom>
          <a:ln w="76200">
            <a:solidFill>
              <a:srgbClr val="D41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1448222-7E1F-4ED4-A16E-9ECDF9489D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0274300" y="5692923"/>
            <a:ext cx="1079500" cy="83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9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1" r:id="rId2"/>
  </p:sldLayoutIdLst>
  <p:transition spd="slow">
    <p:push dir="u"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https://www.youtube.com/embed/_1uj5l019Uo?feature=oembed" TargetMode="External"/><Relationship Id="rId1" Type="http://schemas.openxmlformats.org/officeDocument/2006/relationships/video" Target="https://www.youtube.com/embed/yj0_0vLn0eA?feature=oembed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A3D75B-9935-2918-1020-C6D168968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791" y="445754"/>
            <a:ext cx="9774634" cy="1537614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LLM-A*: Large Language Model Enhanced Incremental Heuristic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Search on Path Planning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1957641-9C93-A3B6-B0AE-92B4F3E36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Silin Meng, et.al</a:t>
            </a:r>
          </a:p>
          <a:p>
            <a:r>
              <a:rPr lang="en-US" sz="2900" b="1" dirty="0"/>
              <a:t>Conference on Empirical Methods in Natural Language Processing(EMNLP),2024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0578D8-8B58-6B5E-FAEA-549F803A66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Shriman Raghav Srinivasan 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1EA6B6-C121-E5D8-C8F3-1408D2FA91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600" dirty="0">
                <a:latin typeface="Aptos Display"/>
                <a:ea typeface="+mn-lt"/>
                <a:cs typeface="+mn-lt"/>
              </a:rPr>
              <a:t>Inspired by the LLM-A* research paper, I built a hybrid path planning system that combines traditional A* search with a locally-running Mistral 7B language model. I developed an interactive simulation environment with side-by-side visualization that clearly demonstrates how my implementation reduces node exploration by 50-70% while maintaining path quality. My approach focused on robust waypoint validation to handle potential LLM hallucinations and remove waypoints those were redundant.</a:t>
            </a:r>
            <a:endParaRPr lang="en-US" sz="1600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9042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F2F481-C83A-495F-19BE-7AA695DEB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" y="4435"/>
            <a:ext cx="10515600" cy="553125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 Display"/>
                <a:ea typeface="Lato"/>
                <a:cs typeface="Lato"/>
              </a:rPr>
              <a:t>Objective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24EE53-8E1D-683A-16A8-523DD523F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064" y="1614071"/>
            <a:ext cx="6655234" cy="40916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dirty="0">
                <a:latin typeface="Aptos Display"/>
                <a:ea typeface="Lato"/>
                <a:cs typeface="Lato"/>
              </a:rPr>
              <a:t>Develop a hybrid path planning system combining classical A* with Large Language Model (LLM) guidance</a:t>
            </a:r>
          </a:p>
          <a:p>
            <a:r>
              <a:rPr lang="en-US" sz="1900" dirty="0">
                <a:latin typeface="Aptos Display"/>
                <a:ea typeface="Lato"/>
                <a:cs typeface="Lato"/>
              </a:rPr>
              <a:t>Utilize cost-aware LLM-generated waypoints to reduce node expansions in complex environments</a:t>
            </a:r>
          </a:p>
          <a:p>
            <a:r>
              <a:rPr lang="en-US" sz="1900" dirty="0">
                <a:latin typeface="Aptos Display"/>
                <a:ea typeface="Lato"/>
                <a:cs typeface="Lato"/>
              </a:rPr>
              <a:t>Preserve path validity and near-optimality using segment-wise A* planning and fallback</a:t>
            </a:r>
          </a:p>
          <a:p>
            <a:r>
              <a:rPr lang="en-US" sz="1900" dirty="0">
                <a:latin typeface="Aptos Display"/>
                <a:ea typeface="Lato"/>
                <a:cs typeface="Lato"/>
              </a:rPr>
              <a:t>Implement structured prompt engineering to ensure parse-able and robust waypoint output</a:t>
            </a:r>
          </a:p>
          <a:p>
            <a:r>
              <a:rPr lang="en-US" sz="1900" dirty="0">
                <a:latin typeface="Aptos Display"/>
                <a:ea typeface="Lato"/>
                <a:cs typeface="Lato"/>
              </a:rPr>
              <a:t>Visualize A* and LLM-A* plans through side-by-side robot simulations for direct comparison</a:t>
            </a:r>
          </a:p>
          <a:p>
            <a:endParaRPr lang="en-US" sz="1900" dirty="0">
              <a:latin typeface="Aptos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B6ECC-465A-435F-1CC0-366607B7A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391920"/>
            <a:ext cx="4838700" cy="37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31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43B6-942E-2647-4941-497519530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11" y="3655"/>
            <a:ext cx="10515600" cy="6545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ptos Display"/>
                <a:ea typeface="Lato"/>
                <a:cs typeface="Lato"/>
              </a:rPr>
              <a:t>LLM-A*Implementation</a:t>
            </a:r>
            <a:r>
              <a:rPr lang="en-US" sz="2000" b="1" dirty="0">
                <a:solidFill>
                  <a:srgbClr val="FFFFFF"/>
                </a:solidFill>
                <a:latin typeface="Aptos Display"/>
                <a:ea typeface="Lato"/>
                <a:cs typeface="Lato"/>
              </a:rPr>
              <a:t>                                                                  </a:t>
            </a:r>
            <a:r>
              <a:rPr lang="en-US" sz="2000" b="1" dirty="0">
                <a:solidFill>
                  <a:srgbClr val="FFFFFF"/>
                </a:solidFill>
                <a:latin typeface="Aptos Display"/>
                <a:ea typeface="Calibri"/>
                <a:cs typeface="Calibri"/>
              </a:rPr>
              <a:t>What , How&amp; Why?</a:t>
            </a:r>
            <a:endParaRPr lang="en-US" sz="2000" b="1" dirty="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5355E-F73E-E6C5-BBE3-7B8A27334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0" y="1413292"/>
            <a:ext cx="6280093" cy="11835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r>
              <a:rPr lang="en-US" sz="1900" dirty="0">
                <a:latin typeface="Aptos"/>
                <a:ea typeface="+mn-lt"/>
                <a:cs typeface="+mn-lt"/>
              </a:rPr>
              <a:t>LLM-A* is a hybrid path planning algorithm that leverages LLM-generated intermediate waypoints to guide A* search and reduce computational overhead in grid-based environments.</a:t>
            </a:r>
            <a:endParaRPr lang="en-US" sz="1900">
              <a:latin typeface="Apto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AFE1CC-5EF4-CDE0-98D5-FA530EBBF2EC}"/>
              </a:ext>
            </a:extLst>
          </p:cNvPr>
          <p:cNvSpPr txBox="1">
            <a:spLocks/>
          </p:cNvSpPr>
          <p:nvPr/>
        </p:nvSpPr>
        <p:spPr>
          <a:xfrm>
            <a:off x="6364294" y="1416089"/>
            <a:ext cx="5740268" cy="35203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Aptos"/>
                <a:ea typeface="+mn-lt"/>
                <a:cs typeface="+mn-lt"/>
              </a:rPr>
              <a:t>Reduces node expansion via segment-wise planning  </a:t>
            </a:r>
            <a:endParaRPr lang="en-US">
              <a:latin typeface="Aptos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ptos"/>
                <a:ea typeface="+mn-lt"/>
                <a:cs typeface="+mn-lt"/>
              </a:rPr>
              <a:t>Enables semantic reasoning over barriers and cost  </a:t>
            </a:r>
            <a:endParaRPr lang="en-US">
              <a:latin typeface="Aptos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ptos"/>
                <a:ea typeface="+mn-lt"/>
                <a:cs typeface="+mn-lt"/>
              </a:rPr>
              <a:t>Cost-aware prompting improves efficiency in large maps  </a:t>
            </a:r>
            <a:endParaRPr lang="en-US">
              <a:latin typeface="Aptos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ptos"/>
                <a:ea typeface="+mn-lt"/>
                <a:cs typeface="+mn-lt"/>
              </a:rPr>
              <a:t>Makes classical A* smarter with global guidance from local LLM</a:t>
            </a:r>
            <a:endParaRPr lang="en-US">
              <a:latin typeface="Aptos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02CCE-9E3B-D1AD-9841-3B9820DFDAD4}"/>
              </a:ext>
            </a:extLst>
          </p:cNvPr>
          <p:cNvSpPr txBox="1"/>
          <p:nvPr/>
        </p:nvSpPr>
        <p:spPr>
          <a:xfrm>
            <a:off x="91440" y="892412"/>
            <a:ext cx="626872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ea typeface="Calibri"/>
                <a:cs typeface="Calibri"/>
              </a:rPr>
              <a:t>WHAT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BE74E-2261-4C73-86F1-795618A6C031}"/>
              </a:ext>
            </a:extLst>
          </p:cNvPr>
          <p:cNvSpPr txBox="1"/>
          <p:nvPr/>
        </p:nvSpPr>
        <p:spPr>
          <a:xfrm>
            <a:off x="6360159" y="892411"/>
            <a:ext cx="5760085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ea typeface="Calibri"/>
                <a:cs typeface="Calibri"/>
              </a:rPr>
              <a:t>WHY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9" name="Picture 8" descr="A blue and red logo&#10;&#10;AI-generated content may be incorrect.">
            <a:extLst>
              <a:ext uri="{FF2B5EF4-FFF2-40B4-BE49-F238E27FC236}">
                <a16:creationId xmlns:a16="http://schemas.microsoft.com/office/drawing/2014/main" id="{E0EDFD9D-87EB-A4BE-D187-BF1C32AC8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22645" y="665480"/>
            <a:ext cx="864870" cy="94488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02A280-314B-A54E-9F4F-406F7970F52B}"/>
              </a:ext>
            </a:extLst>
          </p:cNvPr>
          <p:cNvSpPr/>
          <p:nvPr/>
        </p:nvSpPr>
        <p:spPr>
          <a:xfrm>
            <a:off x="91440" y="3159760"/>
            <a:ext cx="1960880" cy="6807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ea typeface="Calibri"/>
                <a:cs typeface="Calibri"/>
              </a:rPr>
              <a:t>Input</a:t>
            </a:r>
            <a:r>
              <a:rPr lang="en-US" sz="1600" dirty="0">
                <a:ea typeface="Calibri"/>
                <a:cs typeface="Calibri"/>
              </a:rPr>
              <a:t>-Binary Occupancy Grid 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D623AB-D0AC-AE77-1E18-B880CF7ABE38}"/>
              </a:ext>
            </a:extLst>
          </p:cNvPr>
          <p:cNvSpPr txBox="1"/>
          <p:nvPr/>
        </p:nvSpPr>
        <p:spPr>
          <a:xfrm>
            <a:off x="91440" y="2599292"/>
            <a:ext cx="626872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ea typeface="Calibri"/>
                <a:cs typeface="Calibri"/>
              </a:rPr>
              <a:t>HOW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F9C43D3-BB9B-A599-B9DC-F7DD4DDA4A96}"/>
              </a:ext>
            </a:extLst>
          </p:cNvPr>
          <p:cNvSpPr/>
          <p:nvPr/>
        </p:nvSpPr>
        <p:spPr>
          <a:xfrm>
            <a:off x="2245360" y="3159759"/>
            <a:ext cx="1960880" cy="6807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ea typeface="Calibri"/>
                <a:cs typeface="Calibri"/>
              </a:rPr>
              <a:t>Environment Encoding - (Start, Goal)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73E02C-60A5-477F-2458-8A5007F1835D}"/>
              </a:ext>
            </a:extLst>
          </p:cNvPr>
          <p:cNvSpPr/>
          <p:nvPr/>
        </p:nvSpPr>
        <p:spPr>
          <a:xfrm>
            <a:off x="4399280" y="3159758"/>
            <a:ext cx="1960880" cy="6807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ea typeface="Calibri"/>
                <a:cs typeface="Calibri"/>
              </a:rPr>
              <a:t>LLM interfacing through Ollama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DAAD29-6B9B-36EA-7CC2-6A97E607EABC}"/>
              </a:ext>
            </a:extLst>
          </p:cNvPr>
          <p:cNvSpPr/>
          <p:nvPr/>
        </p:nvSpPr>
        <p:spPr>
          <a:xfrm>
            <a:off x="91439" y="4135117"/>
            <a:ext cx="1960880" cy="6807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ea typeface="Calibri"/>
                <a:cs typeface="Calibri"/>
              </a:rPr>
              <a:t>Cost aware RePE Prompting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077306-8B71-DA6C-3903-BF0C1F7FA617}"/>
              </a:ext>
            </a:extLst>
          </p:cNvPr>
          <p:cNvSpPr/>
          <p:nvPr/>
        </p:nvSpPr>
        <p:spPr>
          <a:xfrm>
            <a:off x="2245358" y="4135116"/>
            <a:ext cx="1960880" cy="6807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ea typeface="Calibri"/>
                <a:cs typeface="Calibri"/>
              </a:rPr>
              <a:t>Waypoints Generation &amp; Filtering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6EDC1BF-DCCD-3C4F-8A1C-BE0BE1128A26}"/>
              </a:ext>
            </a:extLst>
          </p:cNvPr>
          <p:cNvSpPr/>
          <p:nvPr/>
        </p:nvSpPr>
        <p:spPr>
          <a:xfrm>
            <a:off x="4399277" y="4135116"/>
            <a:ext cx="1960880" cy="6807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ea typeface="Calibri"/>
                <a:cs typeface="Calibri"/>
              </a:rPr>
              <a:t>Output-Path Generation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FAA38EB-27A3-7A70-11A0-B60985782660}"/>
              </a:ext>
            </a:extLst>
          </p:cNvPr>
          <p:cNvSpPr/>
          <p:nvPr/>
        </p:nvSpPr>
        <p:spPr>
          <a:xfrm>
            <a:off x="2052320" y="3434080"/>
            <a:ext cx="182880" cy="16256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7D052A1-9A07-0873-FDAA-F0FEB8731EE6}"/>
              </a:ext>
            </a:extLst>
          </p:cNvPr>
          <p:cNvSpPr/>
          <p:nvPr/>
        </p:nvSpPr>
        <p:spPr>
          <a:xfrm>
            <a:off x="4216400" y="3434079"/>
            <a:ext cx="182880" cy="16256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6AB57B9-F906-632B-55B1-385D8F88C97D}"/>
              </a:ext>
            </a:extLst>
          </p:cNvPr>
          <p:cNvSpPr/>
          <p:nvPr/>
        </p:nvSpPr>
        <p:spPr>
          <a:xfrm>
            <a:off x="4216399" y="4389118"/>
            <a:ext cx="182880" cy="16256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846D29A-A7E0-7D32-5544-CE2FFD817A82}"/>
              </a:ext>
            </a:extLst>
          </p:cNvPr>
          <p:cNvSpPr/>
          <p:nvPr/>
        </p:nvSpPr>
        <p:spPr>
          <a:xfrm>
            <a:off x="2062479" y="4389118"/>
            <a:ext cx="182880" cy="16256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Bent-Up 29">
            <a:extLst>
              <a:ext uri="{FF2B5EF4-FFF2-40B4-BE49-F238E27FC236}">
                <a16:creationId xmlns:a16="http://schemas.microsoft.com/office/drawing/2014/main" id="{748D974B-0E35-F23A-3104-03235833EDED}"/>
              </a:ext>
            </a:extLst>
          </p:cNvPr>
          <p:cNvSpPr/>
          <p:nvPr/>
        </p:nvSpPr>
        <p:spPr>
          <a:xfrm flipH="1" flipV="1">
            <a:off x="805295" y="3939887"/>
            <a:ext cx="4569228" cy="181149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84CFCE3-F1E1-DA79-84A6-25376423138C}"/>
              </a:ext>
            </a:extLst>
          </p:cNvPr>
          <p:cNvSpPr txBox="1">
            <a:spLocks/>
          </p:cNvSpPr>
          <p:nvPr/>
        </p:nvSpPr>
        <p:spPr>
          <a:xfrm>
            <a:off x="-4625" y="4933199"/>
            <a:ext cx="9946639" cy="19235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dirty="0">
                <a:latin typeface="Aptos Display"/>
                <a:ea typeface="Lato"/>
                <a:cs typeface="Lato"/>
              </a:rPr>
              <a:t>This implementation uses Mistral AI –7B running locally and accessed through </a:t>
            </a:r>
            <a:r>
              <a:rPr lang="en-US" dirty="0" err="1">
                <a:latin typeface="Aptos Display"/>
                <a:ea typeface="Lato"/>
                <a:cs typeface="Lato"/>
              </a:rPr>
              <a:t>Ollama's</a:t>
            </a:r>
            <a:r>
              <a:rPr lang="en-US" dirty="0">
                <a:latin typeface="Aptos Display"/>
                <a:ea typeface="Lato"/>
                <a:cs typeface="Lato"/>
              </a:rPr>
              <a:t> REST API. </a:t>
            </a:r>
            <a:endParaRPr lang="en-US">
              <a:latin typeface="Aptos Display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Aptos Display"/>
                <a:ea typeface="+mn-lt"/>
                <a:cs typeface="+mn-lt"/>
              </a:rPr>
              <a:t>The entire pipeline is written in Python and integrates Matplotlib for animation and visualization.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A02561-CAE6-2597-6CC7-3A7583D72017}"/>
              </a:ext>
            </a:extLst>
          </p:cNvPr>
          <p:cNvSpPr/>
          <p:nvPr/>
        </p:nvSpPr>
        <p:spPr>
          <a:xfrm>
            <a:off x="5312970" y="3840924"/>
            <a:ext cx="60613" cy="1039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9699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5C14-056E-196B-420B-975D595D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11" y="3656"/>
            <a:ext cx="5943601" cy="65454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ptos Display"/>
                <a:ea typeface="Lato"/>
                <a:cs typeface="Lato"/>
              </a:rPr>
              <a:t>Results</a:t>
            </a:r>
            <a:endParaRPr lang="en-US" b="1">
              <a:solidFill>
                <a:schemeClr val="bg1"/>
              </a:solidFill>
              <a:latin typeface="Aptos Display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6A04FE-B4D3-E5EA-B1D0-9933E3D574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583394"/>
              </p:ext>
            </p:extLst>
          </p:nvPr>
        </p:nvGraphicFramePr>
        <p:xfrm>
          <a:off x="5648960" y="792480"/>
          <a:ext cx="6471780" cy="406936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57260">
                  <a:extLst>
                    <a:ext uri="{9D8B030D-6E8A-4147-A177-3AD203B41FA5}">
                      <a16:colId xmlns:a16="http://schemas.microsoft.com/office/drawing/2014/main" val="716229242"/>
                    </a:ext>
                  </a:extLst>
                </a:gridCol>
                <a:gridCol w="2157260">
                  <a:extLst>
                    <a:ext uri="{9D8B030D-6E8A-4147-A177-3AD203B41FA5}">
                      <a16:colId xmlns:a16="http://schemas.microsoft.com/office/drawing/2014/main" val="2045022273"/>
                    </a:ext>
                  </a:extLst>
                </a:gridCol>
                <a:gridCol w="2157260">
                  <a:extLst>
                    <a:ext uri="{9D8B030D-6E8A-4147-A177-3AD203B41FA5}">
                      <a16:colId xmlns:a16="http://schemas.microsoft.com/office/drawing/2014/main" val="1460284763"/>
                    </a:ext>
                  </a:extLst>
                </a:gridCol>
              </a:tblGrid>
              <a:tr h="36721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Display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Display"/>
                        </a:rPr>
                        <a:t>Original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Display"/>
                        </a:rPr>
                        <a:t>My Implementation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826534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Aptos Display"/>
                        </a:rPr>
                        <a:t>GPT-3.5, LLaMA3-8B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Aptos Display"/>
                        </a:rPr>
                        <a:t>Mistral 7B</a:t>
                      </a:r>
                      <a:endParaRPr lang="en-US" dirty="0">
                        <a:latin typeface="Aptos Displa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281050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Up to 50x30 simple 2D environments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Up to 20 x 20 Complex maze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8142"/>
                  </a:ext>
                </a:extLst>
              </a:tr>
              <a:tr h="48631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Prompting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Few-shot, </a:t>
                      </a:r>
                      <a:r>
                        <a:rPr lang="en-US" err="1">
                          <a:latin typeface="Aptos Display"/>
                        </a:rPr>
                        <a:t>RePE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dirty="0">
                          <a:latin typeface="Aptos Display"/>
                        </a:rPr>
                        <a:t>Cost-aware</a:t>
                      </a:r>
                      <a:r>
                        <a:rPr lang="en-US" dirty="0">
                          <a:latin typeface="Aptos Display"/>
                        </a:rPr>
                        <a:t> </a:t>
                      </a:r>
                      <a:r>
                        <a:rPr lang="en-US" err="1">
                          <a:latin typeface="Aptos Display"/>
                        </a:rPr>
                        <a:t>RePE</a:t>
                      </a:r>
                      <a:r>
                        <a:rPr lang="en-US" dirty="0">
                          <a:latin typeface="Aptos Display"/>
                        </a:rPr>
                        <a:t>-style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696209"/>
                  </a:ext>
                </a:extLst>
              </a:tr>
              <a:tr h="48631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In-bounds, obstacle-aware, </a:t>
                      </a:r>
                      <a:r>
                        <a:rPr lang="en-US" b="1" dirty="0">
                          <a:latin typeface="Aptos Display"/>
                        </a:rPr>
                        <a:t>redundant pruning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34674"/>
                  </a:ext>
                </a:extLst>
              </a:tr>
              <a:tr h="36721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Fallbacks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Full path fallback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dirty="0">
                          <a:latin typeface="Aptos Display"/>
                        </a:rPr>
                        <a:t>Segment-wise A* fallback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597734"/>
                  </a:ext>
                </a:extLst>
              </a:tr>
              <a:tr h="48631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Static plots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dirty="0">
                          <a:latin typeface="Aptos Display"/>
                        </a:rPr>
                        <a:t>Full 2D Simulation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20406"/>
                  </a:ext>
                </a:extLst>
              </a:tr>
              <a:tr h="48631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Op count, length, success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dirty="0">
                          <a:latin typeface="Aptos Display"/>
                        </a:rPr>
                        <a:t>Explored nodes, path length, visual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465471"/>
                  </a:ext>
                </a:extLst>
              </a:tr>
              <a:tr h="4863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Exploration Efficiency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Aptos Display"/>
                        </a:rPr>
                        <a:t>Not Analyzed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dirty="0">
                          <a:latin typeface="Aptos Display"/>
                        </a:rPr>
                        <a:t>20% Avg node reduction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075855"/>
                  </a:ext>
                </a:extLst>
              </a:tr>
            </a:tbl>
          </a:graphicData>
        </a:graphic>
      </p:graphicFrame>
      <p:pic>
        <p:nvPicPr>
          <p:cNvPr id="8" name="Online Media 7" title="15X15-A * VS LLM-A*">
            <a:hlinkClick r:id="" action="ppaction://media"/>
            <a:extLst>
              <a:ext uri="{FF2B5EF4-FFF2-40B4-BE49-F238E27FC236}">
                <a16:creationId xmlns:a16="http://schemas.microsoft.com/office/drawing/2014/main" id="{06CF5E89-649B-B8B6-7951-5A7373E9601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-8255" y="1153160"/>
            <a:ext cx="5524818" cy="27025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7442C5-A075-FB8B-9200-7AB1BE75FF13}"/>
              </a:ext>
            </a:extLst>
          </p:cNvPr>
          <p:cNvSpPr txBox="1"/>
          <p:nvPr/>
        </p:nvSpPr>
        <p:spPr>
          <a:xfrm>
            <a:off x="-10438" y="792480"/>
            <a:ext cx="551688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Aptos Display"/>
                <a:ea typeface="Calibri"/>
                <a:cs typeface="Calibri"/>
              </a:rPr>
              <a:t>15 X15 Maze environment Simulation-Nodes : 192 vs 156</a:t>
            </a:r>
            <a:endParaRPr lang="en-US" sz="1600">
              <a:latin typeface="Aptos Display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E49E3-2BAC-8D28-ACE9-BDA5AF3B4D38}"/>
              </a:ext>
            </a:extLst>
          </p:cNvPr>
          <p:cNvSpPr txBox="1"/>
          <p:nvPr/>
        </p:nvSpPr>
        <p:spPr>
          <a:xfrm>
            <a:off x="-10160" y="3860799"/>
            <a:ext cx="551688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Aptos Display"/>
                <a:ea typeface="Calibri"/>
                <a:cs typeface="Calibri"/>
              </a:rPr>
              <a:t>20 X 20 Maze environment Simulation-Nodes : 706 vs 554 </a:t>
            </a:r>
            <a:endParaRPr lang="en-US" sz="1600">
              <a:latin typeface="Aptos Display"/>
              <a:ea typeface="Calibri"/>
              <a:cs typeface="Calibri"/>
            </a:endParaRPr>
          </a:p>
        </p:txBody>
      </p:sp>
      <p:pic>
        <p:nvPicPr>
          <p:cNvPr id="11" name="Online Media 10" title="20X20">
            <a:hlinkClick r:id="" action="ppaction://media"/>
            <a:extLst>
              <a:ext uri="{FF2B5EF4-FFF2-40B4-BE49-F238E27FC236}">
                <a16:creationId xmlns:a16="http://schemas.microsoft.com/office/drawing/2014/main" id="{D8065D76-69E3-54F8-965D-C9D2B43B554B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-8255" y="4221480"/>
            <a:ext cx="5514658" cy="2641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127A76-60CF-A08A-CBB3-AA22C5932712}"/>
              </a:ext>
            </a:extLst>
          </p:cNvPr>
          <p:cNvSpPr txBox="1">
            <a:spLocks/>
          </p:cNvSpPr>
          <p:nvPr/>
        </p:nvSpPr>
        <p:spPr>
          <a:xfrm>
            <a:off x="5652963" y="4943359"/>
            <a:ext cx="6481104" cy="1819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ptos Display"/>
                <a:ea typeface="Lato"/>
                <a:cs typeface="Lato"/>
              </a:rPr>
              <a:t>Future Steps...</a:t>
            </a:r>
          </a:p>
          <a:p>
            <a:r>
              <a:rPr lang="en-US" dirty="0">
                <a:latin typeface="Aptos Display"/>
                <a:ea typeface="Lato"/>
                <a:cs typeface="Lato"/>
              </a:rPr>
              <a:t>Training custom LLM with better planning</a:t>
            </a:r>
          </a:p>
          <a:p>
            <a:r>
              <a:rPr lang="en-US" dirty="0">
                <a:latin typeface="Aptos Display"/>
                <a:ea typeface="Lato"/>
                <a:cs typeface="Lato"/>
              </a:rPr>
              <a:t>Extension to real environments. (VLM's)</a:t>
            </a:r>
          </a:p>
          <a:p>
            <a:r>
              <a:rPr lang="en-US" dirty="0">
                <a:latin typeface="Aptos Display"/>
                <a:ea typeface="Lato"/>
                <a:cs typeface="Lato"/>
              </a:rPr>
              <a:t>Gazebo/Issac Sim implementation with ROS2 ( </a:t>
            </a:r>
            <a:r>
              <a:rPr lang="en-US" b="1" dirty="0">
                <a:latin typeface="Aptos Display"/>
                <a:ea typeface="Lato"/>
                <a:cs typeface="Lato"/>
              </a:rPr>
              <a:t>In works</a:t>
            </a:r>
            <a:r>
              <a:rPr lang="en-US" dirty="0">
                <a:latin typeface="Aptos Display"/>
                <a:ea typeface="Lato"/>
                <a:cs typeface="Lato"/>
              </a:rPr>
              <a:t>) </a:t>
            </a:r>
            <a:endParaRPr lang="en-US">
              <a:latin typeface="Aptos Display"/>
            </a:endParaRPr>
          </a:p>
          <a:p>
            <a:pPr marL="0" indent="0">
              <a:buNone/>
            </a:pPr>
            <a:endParaRPr lang="en-US" dirty="0">
              <a:latin typeface="Aptos Display"/>
              <a:ea typeface="Lato"/>
              <a:cs typeface="Lato"/>
            </a:endParaRPr>
          </a:p>
          <a:p>
            <a:endParaRPr lang="en-US" dirty="0">
              <a:latin typeface="Aptos Display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68058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Office Theme</vt:lpstr>
      <vt:lpstr>1_Office Theme</vt:lpstr>
      <vt:lpstr>LLM-A*: Large Language Model Enhanced Incremental Heuristic Search on Path Planning</vt:lpstr>
      <vt:lpstr>Objective</vt:lpstr>
      <vt:lpstr>LLM-A*Implementation                                                                  What , How&amp; Why?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Salagame</dc:creator>
  <cp:revision>526</cp:revision>
  <dcterms:created xsi:type="dcterms:W3CDTF">2025-04-09T17:55:39Z</dcterms:created>
  <dcterms:modified xsi:type="dcterms:W3CDTF">2025-04-18T18:44:10Z</dcterms:modified>
</cp:coreProperties>
</file>