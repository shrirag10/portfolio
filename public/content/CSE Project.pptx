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C9ECAD23.xml" ContentType="application/vnd.ms-powerpoint.comments+xml"/>
  <Override PartName="/ppt/comments/modernComment_102_D5FD6A2F.xml" ContentType="application/vnd.ms-powerpoint.comments+xml"/>
  <Override PartName="/ppt/comments/modernComment_103_6BDAD2D8.xml" ContentType="application/vnd.ms-powerpoint.comments+xml"/>
  <Override PartName="/ppt/comments/modernComment_106_79ABA4E5.xml" ContentType="application/vnd.ms-powerpoint.comments+xml"/>
  <Override PartName="/ppt/comments/modernComment_105_1CEAB043.xml" ContentType="application/vnd.ms-powerpoint.comments+xml"/>
  <Override PartName="/ppt/comments/modernComment_104_720536ED.xml" ContentType="application/vnd.ms-powerpoint.comments+xml"/>
  <Override PartName="/ppt/comments/modernComment_108_F0233AB8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omments/modernComment_109_78EAF17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6" r:id="rId5"/>
    <p:sldId id="258" r:id="rId6"/>
    <p:sldId id="259" r:id="rId7"/>
    <p:sldId id="262" r:id="rId8"/>
    <p:sldId id="261" r:id="rId9"/>
    <p:sldId id="263" r:id="rId10"/>
    <p:sldId id="260" r:id="rId11"/>
    <p:sldId id="264" r:id="rId12"/>
    <p:sldId id="265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802FAB-24B4-AE05-3D56-E4715D46FBD5}" name="Shriman Raghav Srinivasan" initials="SS" userId="S::srinivasan.shrim@northeastern.edu::3badd875-0c89-4ef9-8192-4f5fee0bb62a" providerId="AD"/>
  <p188:author id="{377679AF-ADFF-D43A-D1F1-C37FC4FD0FAA}" name="Eshwar Srinivasan" initials="ES" userId="S::srinivasan.e@northeastern.edu::c53ae68f-bd62-4187-b0a9-a8bb1afb0ab7" providerId="AD"/>
  <p188:author id="{A18479CA-8F71-A9C9-B6A1-71D62138A615}" name="Tapan Shashikant Patil" initials="TP" userId="S::patil.tap@northeastern.edu::eb7b48cb-ca3c-4825-a9f8-126b6c7150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034EA-CB04-B97C-4C43-E448B318CAC9}" v="84" dt="2025-04-14T02:19:26.124"/>
    <p1510:client id="{1EAEC1BB-6D9D-50B5-8B07-3E4ECAF59286}" v="92" dt="2025-04-14T04:11:27.942"/>
    <p1510:client id="{232BBC68-105D-5E67-AE7B-70C4B040F72F}" v="241" dt="2025-04-14T03:50:54.136"/>
    <p1510:client id="{2D7725BF-006C-4470-76A0-8C8FDF47106F}" v="72" dt="2025-04-14T03:47:01.238"/>
    <p1510:client id="{3EC603A3-C627-65EC-AC63-BC0D42F50402}" v="785" dt="2025-04-13T23:02:05.073"/>
    <p1510:client id="{4A0A913E-9121-A195-23A3-8554FB60DD05}" v="91" dt="2025-04-13T22:57:13.391"/>
    <p1510:client id="{801C1023-BFA1-E95F-60FD-51E72FEE8723}" v="96" dt="2025-04-13T15:12:53.819"/>
    <p1510:client id="{BF386456-7B30-C741-4D5D-8186BFEA8D47}" v="2609" dt="2025-04-13T21:44:28.669"/>
    <p1510:client id="{DF21F335-D3A7-F493-EE2A-A5779DD5775F}" v="241" dt="2025-04-14T02:49:25.745"/>
    <p1510:client id="{F2C768AF-F166-F880-C0B6-CA7274A6FA03}" v="731" dt="2025-04-14T04:03:29.984"/>
    <p1510:client id="{F52CC601-5EB7-ECC8-4C7F-ACC921067054}" v="511" dt="2025-04-14T03:32:56.739"/>
    <p1510:client id="{F5467417-5A11-1F91-46EC-478EF53509E1}" v="151" dt="2025-04-14T04:01:18.400"/>
    <p1510:client id="{F6D3FEF6-BFEB-9F6C-EF86-935D158FD399}" v="11" dt="2025-04-12T19:17:06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northeastern.sharepoint.com/sites/ME5659MAZEPLANNING559/Shared%20Documents/All/Maze_Solving_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northeastern.sharepoint.com/sites/ME5659MAZEPLANNING559/Shared%20Documents/All/Maze_Solving_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northeastern.sharepoint.com/sites/ME5659MAZEPLANNING559/Shared%20Documents/All/Maze_Solving_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No. of Control Steps vs Mazes </a:t>
            </a:r>
          </a:p>
        </c:rich>
      </c:tx>
      <c:layout>
        <c:manualLayout>
          <c:xMode val="edge"/>
          <c:yMode val="edge"/>
          <c:x val="0.22261706019946342"/>
          <c:y val="4.06352151741123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LQR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Sheet1!$A$45:$A$51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Sheet1!$B$45:$B$51</c:f>
              <c:numCache>
                <c:formatCode>General</c:formatCode>
                <c:ptCount val="7"/>
                <c:pt idx="0">
                  <c:v>2981</c:v>
                </c:pt>
                <c:pt idx="1">
                  <c:v>5061</c:v>
                </c:pt>
                <c:pt idx="2">
                  <c:v>5618</c:v>
                </c:pt>
                <c:pt idx="3">
                  <c:v>6990</c:v>
                </c:pt>
                <c:pt idx="4">
                  <c:v>7619</c:v>
                </c:pt>
                <c:pt idx="5">
                  <c:v>7713</c:v>
                </c:pt>
                <c:pt idx="6">
                  <c:v>9046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30-4F06-BEC1-600495FD8DCF}"/>
            </c:ext>
          </c:extLst>
        </c:ser>
        <c:ser>
          <c:idx val="1"/>
          <c:order val="1"/>
          <c:tx>
            <c:strRef>
              <c:f>Sheet1!$C$9</c:f>
              <c:strCache>
                <c:ptCount val="1"/>
                <c:pt idx="0">
                  <c:v>MPC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Sheet1!$A$45:$A$51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Sheet1!$C$45:$C$51</c:f>
              <c:numCache>
                <c:formatCode>General</c:formatCode>
                <c:ptCount val="7"/>
                <c:pt idx="0">
                  <c:v>3189</c:v>
                </c:pt>
                <c:pt idx="1">
                  <c:v>7456</c:v>
                </c:pt>
                <c:pt idx="2">
                  <c:v>5558</c:v>
                </c:pt>
                <c:pt idx="3">
                  <c:v>8242</c:v>
                </c:pt>
                <c:pt idx="4">
                  <c:v>9418</c:v>
                </c:pt>
                <c:pt idx="5">
                  <c:v>8791</c:v>
                </c:pt>
                <c:pt idx="6">
                  <c:v>11146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30-4F06-BEC1-600495FD8DCF}"/>
            </c:ext>
          </c:extLst>
        </c:ser>
        <c:ser>
          <c:idx val="2"/>
          <c:order val="2"/>
          <c:tx>
            <c:strRef>
              <c:f>Sheet1!$D$9</c:f>
              <c:strCache>
                <c:ptCount val="1"/>
                <c:pt idx="0">
                  <c:v>SMC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Sheet1!$A$45:$A$51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Sheet1!$D$45:$D$51</c:f>
              <c:numCache>
                <c:formatCode>General</c:formatCode>
                <c:ptCount val="7"/>
                <c:pt idx="0">
                  <c:v>8995</c:v>
                </c:pt>
                <c:pt idx="1">
                  <c:v>15452</c:v>
                </c:pt>
                <c:pt idx="2">
                  <c:v>18456</c:v>
                </c:pt>
                <c:pt idx="3">
                  <c:v>20688</c:v>
                </c:pt>
                <c:pt idx="4">
                  <c:v>23822</c:v>
                </c:pt>
                <c:pt idx="5">
                  <c:v>22379</c:v>
                </c:pt>
                <c:pt idx="6">
                  <c:v>27411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30-4F06-BEC1-600495FD8DCF}"/>
            </c:ext>
          </c:extLst>
        </c:ser>
        <c:ser>
          <c:idx val="3"/>
          <c:order val="3"/>
          <c:tx>
            <c:strRef>
              <c:f>Sheet1!$E$9</c:f>
              <c:strCache>
                <c:ptCount val="1"/>
                <c:pt idx="0">
                  <c:v>PID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Sheet1!$A$45:$A$51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Sheet1!$E$45:$E$51</c:f>
              <c:numCache>
                <c:formatCode>General</c:formatCode>
                <c:ptCount val="7"/>
                <c:pt idx="0">
                  <c:v>8534</c:v>
                </c:pt>
                <c:pt idx="1">
                  <c:v>14484</c:v>
                </c:pt>
                <c:pt idx="2">
                  <c:v>17008</c:v>
                </c:pt>
                <c:pt idx="3">
                  <c:v>20463</c:v>
                </c:pt>
                <c:pt idx="4">
                  <c:v>22237</c:v>
                </c:pt>
                <c:pt idx="5">
                  <c:v>22064</c:v>
                </c:pt>
                <c:pt idx="6">
                  <c:v>26605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30-4F06-BEC1-600495FD8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9175688"/>
        <c:axId val="999181832"/>
      </c:barChart>
      <c:catAx>
        <c:axId val="999175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181832"/>
        <c:crosses val="autoZero"/>
        <c:auto val="1"/>
        <c:lblAlgn val="ctr"/>
        <c:lblOffset val="100"/>
        <c:noMultiLvlLbl val="0"/>
      </c:catAx>
      <c:valAx>
        <c:axId val="999181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175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 taken in Seconds vs Mazes </a:t>
            </a:r>
          </a:p>
        </c:rich>
      </c:tx>
      <c:layout>
        <c:manualLayout>
          <c:xMode val="edge"/>
          <c:yMode val="edge"/>
          <c:x val="0.20964403773852594"/>
          <c:y val="3.49209488360667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LQR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Sheet1!$A$27:$A$33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Sheet1!$B$27:$B$33</c:f>
              <c:numCache>
                <c:formatCode>General</c:formatCode>
                <c:ptCount val="7"/>
                <c:pt idx="0">
                  <c:v>205.0810285</c:v>
                </c:pt>
                <c:pt idx="1">
                  <c:v>332.0918547</c:v>
                </c:pt>
                <c:pt idx="2">
                  <c:v>368.87444390000002</c:v>
                </c:pt>
                <c:pt idx="3">
                  <c:v>467.82710409999999</c:v>
                </c:pt>
                <c:pt idx="4">
                  <c:v>543.62322289999997</c:v>
                </c:pt>
                <c:pt idx="5">
                  <c:v>536.30118149999998</c:v>
                </c:pt>
                <c:pt idx="6">
                  <c:v>638.20976519999999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04-46C5-B986-C22E499FD02A}"/>
            </c:ext>
          </c:extLst>
        </c:ser>
        <c:ser>
          <c:idx val="1"/>
          <c:order val="1"/>
          <c:tx>
            <c:strRef>
              <c:f>Sheet1!$C$9</c:f>
              <c:strCache>
                <c:ptCount val="1"/>
                <c:pt idx="0">
                  <c:v>MPC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Sheet1!$A$27:$A$33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Sheet1!$C$27:$C$33</c:f>
              <c:numCache>
                <c:formatCode>General</c:formatCode>
                <c:ptCount val="7"/>
                <c:pt idx="0">
                  <c:v>342.95652849999999</c:v>
                </c:pt>
                <c:pt idx="1">
                  <c:v>785.8570823</c:v>
                </c:pt>
                <c:pt idx="2">
                  <c:v>746.47083220000002</c:v>
                </c:pt>
                <c:pt idx="3">
                  <c:v>884.38341649999995</c:v>
                </c:pt>
                <c:pt idx="4">
                  <c:v>999.90771189999998</c:v>
                </c:pt>
                <c:pt idx="5">
                  <c:v>919.5510544</c:v>
                </c:pt>
                <c:pt idx="6">
                  <c:v>1475.4752305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04-46C5-B986-C22E499FD02A}"/>
            </c:ext>
          </c:extLst>
        </c:ser>
        <c:ser>
          <c:idx val="2"/>
          <c:order val="2"/>
          <c:tx>
            <c:strRef>
              <c:f>Sheet1!$D$9</c:f>
              <c:strCache>
                <c:ptCount val="1"/>
                <c:pt idx="0">
                  <c:v>SMC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Sheet1!$A$27:$A$33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Sheet1!$D$27:$D$33</c:f>
              <c:numCache>
                <c:formatCode>General</c:formatCode>
                <c:ptCount val="7"/>
                <c:pt idx="0">
                  <c:v>211.7162845</c:v>
                </c:pt>
                <c:pt idx="1">
                  <c:v>368.43842819999998</c:v>
                </c:pt>
                <c:pt idx="2">
                  <c:v>431.06025019999998</c:v>
                </c:pt>
                <c:pt idx="3">
                  <c:v>714.98040419999995</c:v>
                </c:pt>
                <c:pt idx="4">
                  <c:v>633.7453246</c:v>
                </c:pt>
                <c:pt idx="5">
                  <c:v>516.00962170000003</c:v>
                </c:pt>
                <c:pt idx="6">
                  <c:v>564.872614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04-46C5-B986-C22E499FD02A}"/>
            </c:ext>
          </c:extLst>
        </c:ser>
        <c:ser>
          <c:idx val="3"/>
          <c:order val="3"/>
          <c:tx>
            <c:strRef>
              <c:f>Sheet1!$E$9</c:f>
              <c:strCache>
                <c:ptCount val="1"/>
                <c:pt idx="0">
                  <c:v>PID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Sheet1!$A$27:$A$33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Sheet1!$E$27:$E$33</c:f>
              <c:numCache>
                <c:formatCode>General</c:formatCode>
                <c:ptCount val="7"/>
                <c:pt idx="0">
                  <c:v>104.6224686</c:v>
                </c:pt>
                <c:pt idx="1">
                  <c:v>505.22378020000002</c:v>
                </c:pt>
                <c:pt idx="2">
                  <c:v>346.92342280000003</c:v>
                </c:pt>
                <c:pt idx="3">
                  <c:v>633.83036360000006</c:v>
                </c:pt>
                <c:pt idx="4">
                  <c:v>614.03993549999996</c:v>
                </c:pt>
                <c:pt idx="5">
                  <c:v>718.07297159999996</c:v>
                </c:pt>
                <c:pt idx="6">
                  <c:v>845.20898160000002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704-46C5-B986-C22E499FD0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9175688"/>
        <c:axId val="999181832"/>
      </c:barChart>
      <c:catAx>
        <c:axId val="999175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181832"/>
        <c:crosses val="autoZero"/>
        <c:auto val="1"/>
        <c:lblAlgn val="ctr"/>
        <c:lblOffset val="100"/>
        <c:noMultiLvlLbl val="0"/>
      </c:catAx>
      <c:valAx>
        <c:axId val="999181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175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Mean Error vs Mazes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LQR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Sheet1!$A$10:$A$16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Sheet1!$B$10:$B$16</c:f>
              <c:numCache>
                <c:formatCode>General</c:formatCode>
                <c:ptCount val="7"/>
                <c:pt idx="0">
                  <c:v>6.9659835082687582</c:v>
                </c:pt>
                <c:pt idx="1">
                  <c:v>7.2765519933153939</c:v>
                </c:pt>
                <c:pt idx="2">
                  <c:v>7.7152451969052107</c:v>
                </c:pt>
                <c:pt idx="3">
                  <c:v>7.2960409490402514</c:v>
                </c:pt>
                <c:pt idx="4">
                  <c:v>9.9138102894353377</c:v>
                </c:pt>
                <c:pt idx="5">
                  <c:v>8.2839071825481128</c:v>
                </c:pt>
                <c:pt idx="6">
                  <c:v>5.7202578508953552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E7-4A53-8F40-90F0D5136D60}"/>
            </c:ext>
          </c:extLst>
        </c:ser>
        <c:ser>
          <c:idx val="1"/>
          <c:order val="1"/>
          <c:tx>
            <c:strRef>
              <c:f>Sheet1!$C$9</c:f>
              <c:strCache>
                <c:ptCount val="1"/>
                <c:pt idx="0">
                  <c:v>MPC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Sheet1!$A$10:$A$16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Sheet1!$C$10:$C$16</c:f>
              <c:numCache>
                <c:formatCode>General</c:formatCode>
                <c:ptCount val="7"/>
                <c:pt idx="0">
                  <c:v>7.9931201766488673</c:v>
                </c:pt>
                <c:pt idx="1">
                  <c:v>8.2027274350105017</c:v>
                </c:pt>
                <c:pt idx="2">
                  <c:v>7.5149767114533885</c:v>
                </c:pt>
                <c:pt idx="3">
                  <c:v>6.4335975932375433</c:v>
                </c:pt>
                <c:pt idx="4">
                  <c:v>8.1965314481406057</c:v>
                </c:pt>
                <c:pt idx="5">
                  <c:v>8.0526985828790281</c:v>
                </c:pt>
                <c:pt idx="6">
                  <c:v>5.9975476025245049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E7-4A53-8F40-90F0D5136D60}"/>
            </c:ext>
          </c:extLst>
        </c:ser>
        <c:ser>
          <c:idx val="2"/>
          <c:order val="2"/>
          <c:tx>
            <c:strRef>
              <c:f>Sheet1!$D$9</c:f>
              <c:strCache>
                <c:ptCount val="1"/>
                <c:pt idx="0">
                  <c:v>SMC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Sheet1!$A$10:$A$16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Sheet1!$D$10:$D$16</c:f>
              <c:numCache>
                <c:formatCode>General</c:formatCode>
                <c:ptCount val="7"/>
                <c:pt idx="0">
                  <c:v>7.7769020072672355</c:v>
                </c:pt>
                <c:pt idx="1">
                  <c:v>7.1915752238177522</c:v>
                </c:pt>
                <c:pt idx="2">
                  <c:v>7.5173996161602803</c:v>
                </c:pt>
                <c:pt idx="3">
                  <c:v>7.076701167769528</c:v>
                </c:pt>
                <c:pt idx="4">
                  <c:v>10.773337844843818</c:v>
                </c:pt>
                <c:pt idx="5">
                  <c:v>8.1507503722366046</c:v>
                </c:pt>
                <c:pt idx="6">
                  <c:v>6.3321127102156822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E7-4A53-8F40-90F0D5136D60}"/>
            </c:ext>
          </c:extLst>
        </c:ser>
        <c:ser>
          <c:idx val="3"/>
          <c:order val="3"/>
          <c:tx>
            <c:strRef>
              <c:f>Sheet1!$E$9</c:f>
              <c:strCache>
                <c:ptCount val="1"/>
                <c:pt idx="0">
                  <c:v>PID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Sheet1!$A$10:$A$16</c:f>
              <c:strCache>
                <c:ptCount val="7"/>
                <c:pt idx="0">
                  <c:v>15 x 15</c:v>
                </c:pt>
                <c:pt idx="1">
                  <c:v>20 x 20 </c:v>
                </c:pt>
                <c:pt idx="2">
                  <c:v>25 x 25</c:v>
                </c:pt>
                <c:pt idx="3">
                  <c:v>30 x 30 </c:v>
                </c:pt>
                <c:pt idx="4">
                  <c:v>35 x 35 </c:v>
                </c:pt>
                <c:pt idx="5">
                  <c:v>40 x 40 </c:v>
                </c:pt>
                <c:pt idx="6">
                  <c:v>45 x 45 </c:v>
                </c:pt>
              </c:strCache>
            </c:strRef>
          </c:cat>
          <c:val>
            <c:numRef>
              <c:f>Sheet1!$E$10:$E$16</c:f>
              <c:numCache>
                <c:formatCode>General</c:formatCode>
                <c:ptCount val="7"/>
                <c:pt idx="0">
                  <c:v>8.0299106374207501</c:v>
                </c:pt>
                <c:pt idx="1">
                  <c:v>7.3261128441128616</c:v>
                </c:pt>
                <c:pt idx="2">
                  <c:v>7.8714275511242828</c:v>
                </c:pt>
                <c:pt idx="3">
                  <c:v>8.3086061117341909</c:v>
                </c:pt>
                <c:pt idx="4">
                  <c:v>10.601203169128802</c:v>
                </c:pt>
                <c:pt idx="5">
                  <c:v>8.6820086962527974</c:v>
                </c:pt>
                <c:pt idx="6">
                  <c:v>6.1603440016997091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E7-4A53-8F40-90F0D5136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9175688"/>
        <c:axId val="999181832"/>
      </c:barChart>
      <c:catAx>
        <c:axId val="999175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181832"/>
        <c:crosses val="autoZero"/>
        <c:auto val="1"/>
        <c:lblAlgn val="ctr"/>
        <c:lblOffset val="100"/>
        <c:noMultiLvlLbl val="0"/>
      </c:catAx>
      <c:valAx>
        <c:axId val="999181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175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0_C9ECAD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C478A1-6876-4AE0-B5D2-B8CCB3281913}" authorId="{01802FAB-24B4-AE05-3D56-E4715D46FBD5}" created="2025-04-13T21:33:11.158">
    <pc:sldMkLst xmlns:pc="http://schemas.microsoft.com/office/powerpoint/2013/main/command">
      <pc:docMk/>
      <pc:sldMk cId="3387731235" sldId="256"/>
    </pc:sldMkLst>
    <p188:txBody>
      <a:bodyPr/>
      <a:lstStyle/>
      <a:p>
        <a:r>
          <a:rPr lang="en-US"/>
          <a:t>Gautham</a:t>
        </a:r>
      </a:p>
    </p188:txBody>
  </p188:cm>
</p188:cmLst>
</file>

<file path=ppt/comments/modernComment_102_D5FD6A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2F9E16-6E4F-484C-A446-058748523AD1}" authorId="{01802FAB-24B4-AE05-3D56-E4715D46FBD5}" created="2025-04-13T21:34:13.956">
    <pc:sldMkLst xmlns:pc="http://schemas.microsoft.com/office/powerpoint/2013/main/command">
      <pc:docMk/>
      <pc:sldMk cId="3590154799" sldId="258"/>
    </pc:sldMkLst>
    <p188:txBody>
      <a:bodyPr/>
      <a:lstStyle/>
      <a:p>
        <a:r>
          <a:rPr lang="en-US"/>
          <a:t>Eashwar</a:t>
        </a:r>
      </a:p>
    </p188:txBody>
  </p188:cm>
</p188:cmLst>
</file>

<file path=ppt/comments/modernComment_103_6BDAD2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26E07C-AEE8-4612-AE35-296EC61A3170}" authorId="{01802FAB-24B4-AE05-3D56-E4715D46FBD5}" created="2025-04-13T21:34:21.957">
    <pc:sldMkLst xmlns:pc="http://schemas.microsoft.com/office/powerpoint/2013/main/command">
      <pc:docMk/>
      <pc:sldMk cId="1809502936" sldId="259"/>
    </pc:sldMkLst>
    <p188:txBody>
      <a:bodyPr/>
      <a:lstStyle/>
      <a:p>
        <a:r>
          <a:rPr lang="en-US"/>
          <a:t>Tapan</a:t>
        </a:r>
      </a:p>
    </p188:txBody>
  </p188:cm>
</p188:cmLst>
</file>

<file path=ppt/comments/modernComment_104_720536E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C691AD-7A81-4038-B0C0-071341CBCEE7}" authorId="{01802FAB-24B4-AE05-3D56-E4715D46FBD5}" created="2025-04-13T21:36:51.414">
    <pc:sldMkLst xmlns:pc="http://schemas.microsoft.com/office/powerpoint/2013/main/command">
      <pc:docMk/>
      <pc:sldMk cId="1912944365" sldId="260"/>
    </pc:sldMkLst>
    <p188:txBody>
      <a:bodyPr/>
      <a:lstStyle/>
      <a:p>
        <a:r>
          <a:rPr lang="en-US"/>
          <a:t>Eashwar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4-14T02:01:24.436" authorId="{377679AF-ADFF-D43A-D1F1-C37FC4FD0FAA}"/>
          </p223:rxn>
        </p223:reactions>
      </p:ext>
    </p188:extLst>
  </p188:cm>
</p188:cmLst>
</file>

<file path=ppt/comments/modernComment_105_1CEAB0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4268D5-A6E8-4D1C-8E78-C0F462BBF284}" authorId="{01802FAB-24B4-AE05-3D56-E4715D46FBD5}" created="2025-04-13T21:34:36.785">
    <pc:sldMkLst xmlns:pc="http://schemas.microsoft.com/office/powerpoint/2013/main/command">
      <pc:docMk/>
      <pc:sldMk cId="485142595" sldId="261"/>
    </pc:sldMkLst>
    <p188:replyLst>
      <p188:reply id="{64F3AD92-9D71-45EB-A7C1-3C998008B686}" authorId="{01802FAB-24B4-AE05-3D56-E4715D46FBD5}" created="2025-04-14T03:29:29.981">
        <p188:txBody>
          <a:bodyPr/>
          <a:lstStyle/>
          <a:p>
            <a:r>
              <a:rPr lang="en-US"/>
              <a:t>MPC is the new kid on the block, which has become popular recently. It is an advanced control strategy which predicts a model to anticipate upcoming events before hand and takes steps towards achieving it. It is like a cautious chess player who considers all the possibilities before making his next move. </a:t>
            </a:r>
          </a:p>
        </p188:txBody>
      </p188:reply>
    </p188:replyLst>
    <p188:txBody>
      <a:bodyPr/>
      <a:lstStyle/>
      <a:p>
        <a:r>
          <a:rPr lang="en-US"/>
          <a:t>Shriman</a:t>
        </a:r>
      </a:p>
    </p188:txBody>
  </p188:cm>
</p188:cmLst>
</file>

<file path=ppt/comments/modernComment_106_79ABA4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2CCC2F-9861-4992-B4FA-A57178F1AB1C}" authorId="{A18479CA-8F71-A9C9-B6A1-71D62138A615}" created="2025-04-14T00:38:32.067">
    <pc:sldMkLst xmlns:pc="http://schemas.microsoft.com/office/powerpoint/2013/main/command">
      <pc:docMk/>
      <pc:sldMk cId="2041292005" sldId="262"/>
    </pc:sldMkLst>
    <p188:txBody>
      <a:bodyPr/>
      <a:lstStyle/>
      <a:p>
        <a:r>
          <a:rPr lang="en-US"/>
          <a:t>tapan</a:t>
        </a:r>
      </a:p>
    </p188:txBody>
  </p188:cm>
</p188:cmLst>
</file>

<file path=ppt/comments/modernComment_108_F0233A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6BB203-1533-4611-B5FE-D29BD7E8F5E1}" authorId="{01802FAB-24B4-AE05-3D56-E4715D46FBD5}" created="2025-04-13T21:35:44.693">
    <pc:sldMkLst xmlns:pc="http://schemas.microsoft.com/office/powerpoint/2013/main/command">
      <pc:docMk/>
      <pc:sldMk cId="4028840632" sldId="264"/>
    </pc:sldMkLst>
    <p188:txBody>
      <a:bodyPr/>
      <a:lstStyle/>
      <a:p>
        <a:r>
          <a:rPr lang="en-US"/>
          <a:t>Shriman</a:t>
        </a:r>
      </a:p>
    </p188:txBody>
  </p188:cm>
</p188:cmLst>
</file>

<file path=ppt/comments/modernComment_109_78EAF1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F2E572-354E-4210-85F5-6AE56C7DB535}" authorId="{A18479CA-8F71-A9C9-B6A1-71D62138A615}" created="2025-04-13T15:21:47.804">
    <pc:sldMkLst xmlns:pc="http://schemas.microsoft.com/office/powerpoint/2013/main/command">
      <pc:docMk/>
      <pc:sldMk cId="2028663158" sldId="265"/>
    </pc:sldMkLst>
    <p188:replyLst>
      <p188:reply id="{914AEF9D-659A-49FB-AF9C-26FE8D3D7EE9}" authorId="{01802FAB-24B4-AE05-3D56-E4715D46FBD5}" created="2025-04-13T21:37:07.195">
        <p188:txBody>
          <a:bodyPr/>
          <a:lstStyle/>
          <a:p>
            <a:r>
              <a:rPr lang="en-US"/>
              <a:t>Tapan</a:t>
            </a:r>
          </a:p>
        </p188:txBody>
      </p188:reply>
    </p188:replyLst>
    <p188:txBody>
      <a:bodyPr/>
      <a:lstStyle/>
      <a:p>
        <a:r>
          <a:rPr lang="en-US"/>
          <a:t>a video of all 4 controllers on one maze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6D886-E348-4C4B-AF54-A6C2C2C07BD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B1A5E-C3E7-441B-B771-ABD7585F0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2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C612D7B2-EAD8-4037-A557-8E162F170C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2695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4"/>
            <a:ext cx="8543925" cy="2852737"/>
          </a:xfrm>
        </p:spPr>
        <p:txBody>
          <a:bodyPr anchor="b">
            <a:normAutofit/>
          </a:bodyPr>
          <a:lstStyle>
            <a:lvl1pPr>
              <a:defRPr sz="2925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9"/>
            <a:ext cx="8543925" cy="1500187"/>
          </a:xfrm>
        </p:spPr>
        <p:txBody>
          <a:bodyPr/>
          <a:lstStyle>
            <a:lvl1pPr marL="0" indent="0">
              <a:buNone/>
              <a:defRPr sz="1463">
                <a:solidFill>
                  <a:schemeClr val="tx1"/>
                </a:solidFill>
                <a:latin typeface="+mn-lt"/>
                <a:ea typeface="Lato Medium" panose="020F0502020204030203" pitchFamily="34" charset="0"/>
                <a:cs typeface="Lato Medium" panose="020F0502020204030203" pitchFamily="34" charset="0"/>
              </a:defRPr>
            </a:lvl1pPr>
            <a:lvl2pPr marL="278606" indent="0">
              <a:buNone/>
              <a:defRPr sz="1219">
                <a:solidFill>
                  <a:schemeClr val="tx1">
                    <a:tint val="75000"/>
                  </a:schemeClr>
                </a:solidFill>
              </a:defRPr>
            </a:lvl2pPr>
            <a:lvl3pPr marL="557213" indent="0">
              <a:buNone/>
              <a:defRPr sz="1097">
                <a:solidFill>
                  <a:schemeClr val="tx1">
                    <a:tint val="75000"/>
                  </a:schemeClr>
                </a:solidFill>
              </a:defRPr>
            </a:lvl3pPr>
            <a:lvl4pPr marL="835819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4pPr>
            <a:lvl5pPr marL="1114425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5pPr>
            <a:lvl6pPr marL="1393031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6pPr>
            <a:lvl7pPr marL="1671638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7pPr>
            <a:lvl8pPr marL="1950244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8pPr>
            <a:lvl9pPr marL="2228850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F0F9BE9-E2E1-49BB-BA5A-F33D505204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347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326135"/>
            <a:ext cx="4210050" cy="4351338"/>
          </a:xfrm>
        </p:spPr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316514"/>
            <a:ext cx="4210050" cy="4351338"/>
          </a:xfrm>
        </p:spPr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D6A5661-3DF5-42A1-998A-4464A9AE8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34536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846389"/>
            <a:ext cx="8543925" cy="1325563"/>
          </a:xfrm>
        </p:spPr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0" y="2162421"/>
            <a:ext cx="4190702" cy="823912"/>
          </a:xfrm>
        </p:spPr>
        <p:txBody>
          <a:bodyPr anchor="b"/>
          <a:lstStyle>
            <a:lvl1pPr marL="0" indent="0">
              <a:buNone/>
              <a:defRPr sz="1463" b="1">
                <a:latin typeface="+mn-lt"/>
                <a:ea typeface="Lato Medium" panose="020F0502020204030203" pitchFamily="34" charset="0"/>
                <a:cs typeface="Lato Medium" panose="020F0502020204030203" pitchFamily="34" charset="0"/>
              </a:defRPr>
            </a:lvl1pPr>
            <a:lvl2pPr marL="278606" indent="0">
              <a:buNone/>
              <a:defRPr sz="1219" b="1"/>
            </a:lvl2pPr>
            <a:lvl3pPr marL="557213" indent="0">
              <a:buNone/>
              <a:defRPr sz="1097" b="1"/>
            </a:lvl3pPr>
            <a:lvl4pPr marL="835819" indent="0">
              <a:buNone/>
              <a:defRPr sz="975" b="1"/>
            </a:lvl4pPr>
            <a:lvl5pPr marL="1114425" indent="0">
              <a:buNone/>
              <a:defRPr sz="975" b="1"/>
            </a:lvl5pPr>
            <a:lvl6pPr marL="1393031" indent="0">
              <a:buNone/>
              <a:defRPr sz="975" b="1"/>
            </a:lvl6pPr>
            <a:lvl7pPr marL="1671638" indent="0">
              <a:buNone/>
              <a:defRPr sz="975" b="1"/>
            </a:lvl7pPr>
            <a:lvl8pPr marL="1950244" indent="0">
              <a:buNone/>
              <a:defRPr sz="975" b="1"/>
            </a:lvl8pPr>
            <a:lvl9pPr marL="2228850" indent="0">
              <a:buNone/>
              <a:defRPr sz="9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0" y="2986333"/>
            <a:ext cx="4190702" cy="3684588"/>
          </a:xfrm>
        </p:spPr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4" y="2162421"/>
            <a:ext cx="4211340" cy="823912"/>
          </a:xfrm>
        </p:spPr>
        <p:txBody>
          <a:bodyPr anchor="b"/>
          <a:lstStyle>
            <a:lvl1pPr marL="0" indent="0">
              <a:buNone/>
              <a:defRPr sz="1463" b="1">
                <a:latin typeface="+mn-lt"/>
                <a:ea typeface="Lato Medium" panose="020F0502020204030203" pitchFamily="34" charset="0"/>
                <a:cs typeface="Lato Medium" panose="020F0502020204030203" pitchFamily="34" charset="0"/>
              </a:defRPr>
            </a:lvl1pPr>
            <a:lvl2pPr marL="278606" indent="0">
              <a:buNone/>
              <a:defRPr sz="1219" b="1"/>
            </a:lvl2pPr>
            <a:lvl3pPr marL="557213" indent="0">
              <a:buNone/>
              <a:defRPr sz="1097" b="1"/>
            </a:lvl3pPr>
            <a:lvl4pPr marL="835819" indent="0">
              <a:buNone/>
              <a:defRPr sz="975" b="1"/>
            </a:lvl4pPr>
            <a:lvl5pPr marL="1114425" indent="0">
              <a:buNone/>
              <a:defRPr sz="975" b="1"/>
            </a:lvl5pPr>
            <a:lvl6pPr marL="1393031" indent="0">
              <a:buNone/>
              <a:defRPr sz="975" b="1"/>
            </a:lvl6pPr>
            <a:lvl7pPr marL="1671638" indent="0">
              <a:buNone/>
              <a:defRPr sz="975" b="1"/>
            </a:lvl7pPr>
            <a:lvl8pPr marL="1950244" indent="0">
              <a:buNone/>
              <a:defRPr sz="975" b="1"/>
            </a:lvl8pPr>
            <a:lvl9pPr marL="2228850" indent="0">
              <a:buNone/>
              <a:defRPr sz="9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4" y="2986333"/>
            <a:ext cx="4211340" cy="3684588"/>
          </a:xfrm>
        </p:spPr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20D78799-4FA9-440A-87A8-5D48FCCA2E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851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5B017322-D0A5-4D75-ABD1-FF40ACFD31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8398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A0CC42F-8F77-4C3C-B4A0-F1C5B49E4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1606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851832"/>
            <a:ext cx="3194943" cy="1600200"/>
          </a:xfrm>
        </p:spPr>
        <p:txBody>
          <a:bodyPr anchor="b"/>
          <a:lstStyle>
            <a:lvl1pPr>
              <a:defRPr sz="195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382058"/>
            <a:ext cx="5014913" cy="4873625"/>
          </a:xfrm>
        </p:spPr>
        <p:txBody>
          <a:bodyPr/>
          <a:lstStyle>
            <a:lvl1pPr>
              <a:defRPr sz="1950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706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463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219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219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452032"/>
            <a:ext cx="3194943" cy="3811588"/>
          </a:xfrm>
        </p:spPr>
        <p:txBody>
          <a:bodyPr/>
          <a:lstStyle>
            <a:lvl1pPr marL="0" indent="0">
              <a:buNone/>
              <a:defRPr sz="975">
                <a:latin typeface="+mn-lt"/>
                <a:ea typeface="Lato Medium" panose="020F0502020204030203" pitchFamily="34" charset="0"/>
                <a:cs typeface="Lato Medium" panose="020F0502020204030203" pitchFamily="34" charset="0"/>
              </a:defRPr>
            </a:lvl1pPr>
            <a:lvl2pPr marL="278606" indent="0">
              <a:buNone/>
              <a:defRPr sz="853"/>
            </a:lvl2pPr>
            <a:lvl3pPr marL="557213" indent="0">
              <a:buNone/>
              <a:defRPr sz="731"/>
            </a:lvl3pPr>
            <a:lvl4pPr marL="835819" indent="0">
              <a:buNone/>
              <a:defRPr sz="609"/>
            </a:lvl4pPr>
            <a:lvl5pPr marL="1114425" indent="0">
              <a:buNone/>
              <a:defRPr sz="609"/>
            </a:lvl5pPr>
            <a:lvl6pPr marL="1393031" indent="0">
              <a:buNone/>
              <a:defRPr sz="609"/>
            </a:lvl6pPr>
            <a:lvl7pPr marL="1671638" indent="0">
              <a:buNone/>
              <a:defRPr sz="609"/>
            </a:lvl7pPr>
            <a:lvl8pPr marL="1950244" indent="0">
              <a:buNone/>
              <a:defRPr sz="609"/>
            </a:lvl8pPr>
            <a:lvl9pPr marL="2228850" indent="0">
              <a:buNone/>
              <a:defRPr sz="60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1D4442CB-7748-4D12-9D6D-537AC814EE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0172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1015466"/>
            <a:ext cx="3194943" cy="1600200"/>
          </a:xfrm>
        </p:spPr>
        <p:txBody>
          <a:bodyPr anchor="b">
            <a:normAutofit/>
          </a:bodyPr>
          <a:lstStyle>
            <a:lvl1pPr>
              <a:defRPr sz="1463"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340" y="1545697"/>
            <a:ext cx="5014913" cy="4873625"/>
          </a:xfrm>
        </p:spPr>
        <p:txBody>
          <a:bodyPr/>
          <a:lstStyle>
            <a:lvl1pPr marL="0" indent="0">
              <a:buNone/>
              <a:defRPr sz="1950"/>
            </a:lvl1pPr>
            <a:lvl2pPr marL="278606" indent="0">
              <a:buNone/>
              <a:defRPr sz="1706"/>
            </a:lvl2pPr>
            <a:lvl3pPr marL="557213" indent="0">
              <a:buNone/>
              <a:defRPr sz="1463"/>
            </a:lvl3pPr>
            <a:lvl4pPr marL="835819" indent="0">
              <a:buNone/>
              <a:defRPr sz="1219"/>
            </a:lvl4pPr>
            <a:lvl5pPr marL="1114425" indent="0">
              <a:buNone/>
              <a:defRPr sz="1219"/>
            </a:lvl5pPr>
            <a:lvl6pPr marL="1393031" indent="0">
              <a:buNone/>
              <a:defRPr sz="1219"/>
            </a:lvl6pPr>
            <a:lvl7pPr marL="1671638" indent="0">
              <a:buNone/>
              <a:defRPr sz="1219"/>
            </a:lvl7pPr>
            <a:lvl8pPr marL="1950244" indent="0">
              <a:buNone/>
              <a:defRPr sz="1219"/>
            </a:lvl8pPr>
            <a:lvl9pPr marL="2228850" indent="0">
              <a:buNone/>
              <a:defRPr sz="121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615666"/>
            <a:ext cx="3194943" cy="3811588"/>
          </a:xfrm>
        </p:spPr>
        <p:txBody>
          <a:bodyPr>
            <a:normAutofit/>
          </a:bodyPr>
          <a:lstStyle>
            <a:lvl1pPr marL="0" indent="0">
              <a:buNone/>
              <a:defRPr sz="1097" b="0">
                <a:latin typeface="+mn-lt"/>
                <a:ea typeface="Lato Medium" panose="020F0502020204030203" pitchFamily="34" charset="0"/>
                <a:cs typeface="Lato Medium" panose="020F0502020204030203" pitchFamily="34" charset="0"/>
              </a:defRPr>
            </a:lvl1pPr>
            <a:lvl2pPr marL="278606" indent="0">
              <a:buNone/>
              <a:defRPr sz="853"/>
            </a:lvl2pPr>
            <a:lvl3pPr marL="557213" indent="0">
              <a:buNone/>
              <a:defRPr sz="731"/>
            </a:lvl3pPr>
            <a:lvl4pPr marL="835819" indent="0">
              <a:buNone/>
              <a:defRPr sz="609"/>
            </a:lvl4pPr>
            <a:lvl5pPr marL="1114425" indent="0">
              <a:buNone/>
              <a:defRPr sz="609"/>
            </a:lvl5pPr>
            <a:lvl6pPr marL="1393031" indent="0">
              <a:buNone/>
              <a:defRPr sz="609"/>
            </a:lvl6pPr>
            <a:lvl7pPr marL="1671638" indent="0">
              <a:buNone/>
              <a:defRPr sz="609"/>
            </a:lvl7pPr>
            <a:lvl8pPr marL="1950244" indent="0">
              <a:buNone/>
              <a:defRPr sz="609"/>
            </a:lvl8pPr>
            <a:lvl9pPr marL="2228850" indent="0">
              <a:buNone/>
              <a:defRPr sz="60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914620"/>
            <a:ext cx="2228850" cy="365125"/>
          </a:xfrm>
          <a:prstGeom prst="rect">
            <a:avLst/>
          </a:prstGeom>
        </p:spPr>
        <p:txBody>
          <a:bodyPr/>
          <a:lstStyle/>
          <a:p>
            <a:fld id="{3CA2624E-D588-4092-9CB7-C91D143E3E2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2178F92A-E963-4783-9878-5FBD15E9CF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1853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714854A-3BE5-4DB0-B3FE-A96D06F055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4924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875264"/>
            <a:ext cx="2135981" cy="5811838"/>
          </a:xfrm>
        </p:spPr>
        <p:txBody>
          <a:bodyPr vert="eaVert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875264"/>
            <a:ext cx="6284119" cy="5811838"/>
          </a:xfrm>
        </p:spPr>
        <p:txBody>
          <a:bodyPr vert="eaVert"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2D6DAF6-1091-4A4B-B178-794E480879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3730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3656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463"/>
            </a:lvl1pPr>
            <a:lvl2pPr marL="278606" indent="0" algn="ctr">
              <a:buNone/>
              <a:defRPr sz="1219"/>
            </a:lvl2pPr>
            <a:lvl3pPr marL="557213" indent="0" algn="ctr">
              <a:buNone/>
              <a:defRPr sz="1097"/>
            </a:lvl3pPr>
            <a:lvl4pPr marL="835819" indent="0" algn="ctr">
              <a:buNone/>
              <a:defRPr sz="975"/>
            </a:lvl4pPr>
            <a:lvl5pPr marL="1114425" indent="0" algn="ctr">
              <a:buNone/>
              <a:defRPr sz="975"/>
            </a:lvl5pPr>
            <a:lvl6pPr marL="1393031" indent="0" algn="ctr">
              <a:buNone/>
              <a:defRPr sz="975"/>
            </a:lvl6pPr>
            <a:lvl7pPr marL="1671638" indent="0" algn="ctr">
              <a:buNone/>
              <a:defRPr sz="975"/>
            </a:lvl7pPr>
            <a:lvl8pPr marL="1950244" indent="0" algn="ctr">
              <a:buNone/>
              <a:defRPr sz="975"/>
            </a:lvl8pPr>
            <a:lvl9pPr marL="2228850" indent="0" algn="ctr">
              <a:buNone/>
              <a:defRPr sz="975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86AB5E37-2961-46F6-9ED8-DEB4EDC192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8030112" y="47812"/>
            <a:ext cx="1189692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2311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902133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432020"/>
            <a:ext cx="8543925" cy="4091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 rot="5400000">
            <a:off x="4601677" y="-4601679"/>
            <a:ext cx="702644" cy="99060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-2" y="702642"/>
            <a:ext cx="9906002" cy="35022"/>
          </a:xfrm>
          <a:prstGeom prst="line">
            <a:avLst/>
          </a:prstGeom>
          <a:ln w="76200">
            <a:solidFill>
              <a:srgbClr val="D41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1448222-7E1F-4ED4-A16E-9ECDF948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347869" y="5692923"/>
            <a:ext cx="877094" cy="83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9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C9ECAD2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D5FD6A2F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3_6BDAD2D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6_79ABA4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05_1CEAB04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4_720536ED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microsoft.com/office/2018/10/relationships/comments" Target="../comments/modernComment_108_F0233AB8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09_78EAF17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7806-ECFC-1FB5-654D-420B2219B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>
                <a:latin typeface="Times New Roman"/>
                <a:ea typeface="Lato"/>
                <a:cs typeface="Times New Roman"/>
              </a:rPr>
              <a:t>Maze-Solving Robot using PID, LQR, MPC, and SMC</a:t>
            </a:r>
            <a:endParaRPr lang="en-US" sz="3600">
              <a:latin typeface="Times New Roman"/>
              <a:ea typeface="Lato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A2225-E4B3-513E-9D30-DBB3A434C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2432020"/>
            <a:ext cx="7350559" cy="3288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>
                <a:ea typeface="Lato"/>
                <a:cs typeface="Lato"/>
              </a:rPr>
              <a:t>Team Members</a:t>
            </a:r>
            <a:endParaRPr lang="en-IN" sz="2800">
              <a:ea typeface="Lato"/>
              <a:cs typeface="Lato"/>
            </a:endParaRPr>
          </a:p>
          <a:p>
            <a:pPr marL="800100" lvl="1" indent="-285750">
              <a:buFont typeface="Courier New,monospace"/>
              <a:buChar char="o"/>
            </a:pPr>
            <a:r>
              <a:rPr lang="en-IN">
                <a:latin typeface="Times New Roman"/>
                <a:ea typeface="Lato"/>
                <a:cs typeface="Times New Roman"/>
              </a:rPr>
              <a:t>Gautham Ramkumar</a:t>
            </a:r>
            <a:endParaRPr lang="en-US">
              <a:latin typeface="Times New Roman"/>
              <a:ea typeface="Lato"/>
              <a:cs typeface="Times New Roman"/>
            </a:endParaRPr>
          </a:p>
          <a:p>
            <a:pPr marL="800100" lvl="1" indent="-285750">
              <a:buFont typeface="Courier New,monospace"/>
              <a:buChar char="o"/>
            </a:pPr>
            <a:r>
              <a:rPr lang="en-IN">
                <a:latin typeface="Times New Roman"/>
                <a:ea typeface="Lato"/>
                <a:cs typeface="Times New Roman"/>
              </a:rPr>
              <a:t>Eshwar Srinivasan</a:t>
            </a:r>
            <a:endParaRPr lang="en-US">
              <a:latin typeface="Times New Roman"/>
              <a:ea typeface="Lato"/>
              <a:cs typeface="Times New Roman"/>
            </a:endParaRPr>
          </a:p>
          <a:p>
            <a:pPr marL="800100" lvl="1" indent="-285750">
              <a:buFont typeface="Courier New,monospace"/>
              <a:buChar char="o"/>
            </a:pPr>
            <a:r>
              <a:rPr lang="en-IN">
                <a:latin typeface="Times New Roman"/>
                <a:ea typeface="Lato"/>
                <a:cs typeface="Times New Roman"/>
              </a:rPr>
              <a:t>Shriman Raghav Srinivasan</a:t>
            </a:r>
            <a:endParaRPr lang="en-US">
              <a:latin typeface="Times New Roman"/>
              <a:ea typeface="Lato"/>
              <a:cs typeface="Times New Roman"/>
            </a:endParaRPr>
          </a:p>
          <a:p>
            <a:pPr marL="800100" lvl="1" indent="-285750">
              <a:buFont typeface="Courier New,monospace"/>
              <a:buChar char="o"/>
            </a:pPr>
            <a:r>
              <a:rPr lang="en-IN">
                <a:latin typeface="Times New Roman"/>
                <a:ea typeface="Lato"/>
                <a:cs typeface="Times New Roman"/>
              </a:rPr>
              <a:t>Tapan Patil</a:t>
            </a:r>
            <a:endParaRPr lang="en-US">
              <a:latin typeface="Times New Roman"/>
              <a:ea typeface="Lato"/>
              <a:cs typeface="Times New Roman"/>
            </a:endParaRPr>
          </a:p>
          <a:p>
            <a:pPr marL="0" indent="0">
              <a:buNone/>
            </a:pPr>
            <a:endParaRPr lang="en-US" sz="2800">
              <a:ea typeface="Lato"/>
              <a:cs typeface="Lato"/>
            </a:endParaRPr>
          </a:p>
          <a:p>
            <a:pPr marL="0" indent="0">
              <a:buNone/>
            </a:pPr>
            <a:r>
              <a:rPr lang="en-US" sz="2800">
                <a:ea typeface="Lato"/>
                <a:cs typeface="Lato"/>
              </a:rPr>
              <a:t>Course : ME5659 Control Systems Engineering </a:t>
            </a:r>
            <a:endParaRPr lang="en-IN" sz="2800">
              <a:ea typeface="Lato"/>
              <a:cs typeface="Lato"/>
            </a:endParaRPr>
          </a:p>
          <a:p>
            <a:pPr marL="0" indent="0">
              <a:buNone/>
            </a:pPr>
            <a:r>
              <a:rPr lang="en-US" sz="2800">
                <a:latin typeface="Calibri"/>
                <a:ea typeface="Lato"/>
                <a:cs typeface="Lato"/>
              </a:rPr>
              <a:t>Date : 14</a:t>
            </a:r>
            <a:r>
              <a:rPr lang="en-US" sz="2800" baseline="30000">
                <a:latin typeface="Calibri"/>
                <a:ea typeface="Lato"/>
                <a:cs typeface="Lato"/>
              </a:rPr>
              <a:t>th</a:t>
            </a:r>
            <a:r>
              <a:rPr lang="en-US" sz="2800">
                <a:latin typeface="Calibri"/>
                <a:ea typeface="Lato"/>
                <a:cs typeface="Lato"/>
              </a:rPr>
              <a:t> April 2025</a:t>
            </a:r>
          </a:p>
          <a:p>
            <a:pPr marL="342900" lvl="1" indent="0">
              <a:buNone/>
            </a:pPr>
            <a:endParaRPr lang="en-IN" sz="1400">
              <a:latin typeface="Times New Roman"/>
              <a:ea typeface="Lat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7731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34015-584A-8F0A-B155-04036E143E77}"/>
              </a:ext>
            </a:extLst>
          </p:cNvPr>
          <p:cNvSpPr txBox="1"/>
          <p:nvPr/>
        </p:nvSpPr>
        <p:spPr>
          <a:xfrm>
            <a:off x="580495" y="158317"/>
            <a:ext cx="7113704" cy="369332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Problem Statement &amp; Objective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A2347-3682-57B2-4F35-94B111EB2F81}"/>
              </a:ext>
            </a:extLst>
          </p:cNvPr>
          <p:cNvSpPr txBox="1"/>
          <p:nvPr/>
        </p:nvSpPr>
        <p:spPr>
          <a:xfrm>
            <a:off x="86760" y="1255669"/>
            <a:ext cx="9740915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PROBLEM STATEMENT:</a:t>
            </a:r>
            <a:endParaRPr lang="en-US" sz="280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Develop a simulation framework for autonomous navigation of a unicycle robot through complex 2D maze environments. The primary goal is to accurately evaluate and compare the performance of four distinct control strategies: PID, LQR, MPC, and SMC.</a:t>
            </a:r>
          </a:p>
          <a:p>
            <a:r>
              <a:rPr lang="en-US" sz="2800" b="1">
                <a:ea typeface="+mn-lt"/>
                <a:cs typeface="+mn-lt"/>
              </a:rPr>
              <a:t>PROJECT OBJECTIVES: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Design and implement a comprehensive simulation environment capable of solving maze navigation tasks using different controllers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Compare controller performance systematically across 7 different maze scenarios, varying in complexity and size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Evaluate each controller rigorously using the following performance metrics: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1. Mean Tracking Error (Accuracy of path-following)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2. Time to Reach Goal (Efficiency and speed of navigation)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3. Control Effort (Number of control steps)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Through these evaluations, identify the optimal controller characteristics for reliable and effective robotic path-following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28600" indent="-22860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1A641-F60A-4478-698B-172F338797EC}"/>
              </a:ext>
            </a:extLst>
          </p:cNvPr>
          <p:cNvSpPr txBox="1"/>
          <p:nvPr/>
        </p:nvSpPr>
        <p:spPr>
          <a:xfrm>
            <a:off x="1920652" y="52648"/>
            <a:ext cx="6066645" cy="584775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Problem Statement and Objective</a:t>
            </a:r>
          </a:p>
        </p:txBody>
      </p:sp>
    </p:spTree>
    <p:extLst>
      <p:ext uri="{BB962C8B-B14F-4D97-AF65-F5344CB8AC3E}">
        <p14:creationId xmlns:p14="http://schemas.microsoft.com/office/powerpoint/2010/main" val="3590154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814B67-8466-4A8C-25DF-718DB0FF507A}"/>
              </a:ext>
            </a:extLst>
          </p:cNvPr>
          <p:cNvSpPr txBox="1"/>
          <p:nvPr/>
        </p:nvSpPr>
        <p:spPr>
          <a:xfrm>
            <a:off x="756335" y="77084"/>
            <a:ext cx="7191322" cy="584775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System Overview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maze with a path in the middle&#10;&#10;AI-generated content may be incorrect.">
            <a:extLst>
              <a:ext uri="{FF2B5EF4-FFF2-40B4-BE49-F238E27FC236}">
                <a16:creationId xmlns:a16="http://schemas.microsoft.com/office/drawing/2014/main" id="{1052B8F9-3A52-D563-F805-8C5C5223AE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44" t="2018" r="6106" b="6346"/>
          <a:stretch/>
        </p:blipFill>
        <p:spPr>
          <a:xfrm>
            <a:off x="6633354" y="771960"/>
            <a:ext cx="3168396" cy="48507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2DF66-3346-F356-893D-C7D941607B80}"/>
              </a:ext>
            </a:extLst>
          </p:cNvPr>
          <p:cNvSpPr txBox="1"/>
          <p:nvPr/>
        </p:nvSpPr>
        <p:spPr>
          <a:xfrm>
            <a:off x="-4721" y="768409"/>
            <a:ext cx="6769604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b="1">
                <a:ea typeface="+mn-lt"/>
                <a:cs typeface="+mn-lt"/>
              </a:rPr>
              <a:t>Robot Model:</a:t>
            </a:r>
          </a:p>
          <a:p>
            <a:pPr lvl="1"/>
            <a:r>
              <a:rPr lang="en-US">
                <a:ea typeface="+mn-lt"/>
                <a:cs typeface="+mn-lt"/>
              </a:rPr>
              <a:t>The robot is modeled as a unicycle with state             where  represent the position and     is the orientation.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ea typeface="+mn-lt"/>
                <a:cs typeface="+mn-lt"/>
              </a:rPr>
              <a:t>The control inputs are linear velocity (𝑣) and angular velocity (𝜔).</a:t>
            </a:r>
            <a:endParaRPr lang="en-US"/>
          </a:p>
          <a:p>
            <a:pPr marL="342900" indent="-342900">
              <a:buAutoNum type="arabicPeriod"/>
            </a:pPr>
            <a:r>
              <a:rPr lang="en-US" b="1">
                <a:ea typeface="+mn-lt"/>
                <a:cs typeface="+mn-lt"/>
              </a:rPr>
              <a:t>Environment:</a:t>
            </a:r>
          </a:p>
          <a:p>
            <a:pPr lvl="1"/>
            <a:r>
              <a:rPr lang="en-US">
                <a:ea typeface="+mn-lt"/>
                <a:cs typeface="+mn-lt"/>
              </a:rPr>
              <a:t>The environment consists of 8 mazes created from images obtained from a web-based Maze Generator. These images are then converted into binary occupancy grids: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Black represents obstacles &amp; White represents free space.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>
                <a:ea typeface="+mn-lt"/>
                <a:cs typeface="+mn-lt"/>
              </a:rPr>
              <a:t>The mazes are loaded from the </a:t>
            </a:r>
            <a:r>
              <a:rPr lang="en-US" b="1">
                <a:ea typeface="+mn-lt"/>
                <a:cs typeface="+mn-lt"/>
              </a:rPr>
              <a:t>mazeLibrary.mat</a:t>
            </a:r>
            <a:r>
              <a:rPr lang="en-US">
                <a:ea typeface="+mn-lt"/>
                <a:cs typeface="+mn-lt"/>
              </a:rPr>
              <a:t> file.</a:t>
            </a:r>
            <a:endParaRPr lang="en-US"/>
          </a:p>
          <a:p>
            <a:pPr marL="342900" indent="-342900">
              <a:buAutoNum type="arabicPeriod"/>
            </a:pPr>
            <a:r>
              <a:rPr lang="en-US" b="1">
                <a:ea typeface="+mn-lt"/>
                <a:cs typeface="+mn-lt"/>
              </a:rPr>
              <a:t>Path Planner :</a:t>
            </a:r>
          </a:p>
          <a:p>
            <a:pPr lvl="1"/>
            <a:r>
              <a:rPr lang="en-US">
                <a:ea typeface="+mn-lt"/>
                <a:cs typeface="+mn-lt"/>
              </a:rPr>
              <a:t>The </a:t>
            </a:r>
            <a:r>
              <a:rPr lang="en-US" b="1">
                <a:ea typeface="+mn-lt"/>
                <a:cs typeface="+mn-lt"/>
              </a:rPr>
              <a:t>Probabilistic Roadmap (PRM)</a:t>
            </a:r>
            <a:r>
              <a:rPr lang="en-US">
                <a:ea typeface="+mn-lt"/>
                <a:cs typeface="+mn-lt"/>
              </a:rPr>
              <a:t> algorithm is used to generate a feasible path for the robot by sampling nodes and building a roadmap based on the maze's binary map.</a:t>
            </a:r>
            <a:endParaRPr lang="en-US" b="1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b="1">
                <a:ea typeface="+mn-lt"/>
                <a:cs typeface="+mn-lt"/>
              </a:rPr>
              <a:t>Controller :</a:t>
            </a:r>
          </a:p>
          <a:p>
            <a:pPr lvl="1"/>
            <a:r>
              <a:rPr lang="en-US">
                <a:ea typeface="Calibri" panose="020F0502020204030204"/>
                <a:cs typeface="Calibri" panose="020F0502020204030204"/>
              </a:rPr>
              <a:t>The controller section follows waypoints generated by PRM and outputs control inputs for robot model.</a:t>
            </a:r>
          </a:p>
          <a:p>
            <a:pPr marL="342900" indent="-342900">
              <a:buAutoNum type="arabicPeriod"/>
            </a:pPr>
            <a:r>
              <a:rPr lang="en-US" b="1">
                <a:ea typeface="+mn-lt"/>
                <a:cs typeface="+mn-lt"/>
              </a:rPr>
              <a:t>Simulation :</a:t>
            </a:r>
          </a:p>
          <a:p>
            <a:pPr lvl="1"/>
            <a:r>
              <a:rPr lang="en-US">
                <a:ea typeface="+mn-lt"/>
                <a:cs typeface="+mn-lt"/>
              </a:rPr>
              <a:t>The system is simulated in </a:t>
            </a:r>
            <a:r>
              <a:rPr lang="en-US" b="1">
                <a:ea typeface="+mn-lt"/>
                <a:cs typeface="+mn-lt"/>
              </a:rPr>
              <a:t>MATLAB</a:t>
            </a:r>
            <a:r>
              <a:rPr lang="en-US">
                <a:ea typeface="+mn-lt"/>
                <a:cs typeface="+mn-lt"/>
              </a:rPr>
              <a:t> with optional </a:t>
            </a:r>
            <a:r>
              <a:rPr lang="en-US" b="1">
                <a:ea typeface="+mn-lt"/>
                <a:cs typeface="+mn-lt"/>
              </a:rPr>
              <a:t>video logging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metric export</a:t>
            </a:r>
            <a:r>
              <a:rPr lang="en-US">
                <a:ea typeface="+mn-lt"/>
                <a:cs typeface="+mn-lt"/>
              </a:rPr>
              <a:t> for performance analysis (e.g., time to goal, control effort).</a:t>
            </a:r>
            <a:endParaRPr lang="en-US"/>
          </a:p>
          <a:p>
            <a:endParaRPr lang="en-US" b="1">
              <a:ea typeface="+mn-lt"/>
              <a:cs typeface="+mn-lt"/>
            </a:endParaRPr>
          </a:p>
          <a:p>
            <a:pPr lvl="1"/>
            <a:endParaRPr lang="en-US" b="1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AF884E-6711-AC5C-0DDD-D7FB27C8F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875" y="1087858"/>
            <a:ext cx="571967" cy="266653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2AAF0B-3FAD-61F0-2195-BE21C6993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231" y="1135511"/>
            <a:ext cx="357065" cy="164405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014099-2A2D-2BE0-CC00-3FB9113CE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2775" y="1426197"/>
            <a:ext cx="125326" cy="1651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9502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E3F62-5CB3-31A8-AFD9-26648407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9EAB59-EDF9-21F0-E014-0E8B5BE09D99}"/>
              </a:ext>
            </a:extLst>
          </p:cNvPr>
          <p:cNvSpPr txBox="1"/>
          <p:nvPr/>
        </p:nvSpPr>
        <p:spPr>
          <a:xfrm>
            <a:off x="580495" y="158317"/>
            <a:ext cx="7113704" cy="369332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Controller Design : LQR ( Linear Quadratic Regulator 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029FE-9808-0EE4-8B72-824711CCA1EF}"/>
              </a:ext>
            </a:extLst>
          </p:cNvPr>
          <p:cNvSpPr txBox="1"/>
          <p:nvPr/>
        </p:nvSpPr>
        <p:spPr>
          <a:xfrm>
            <a:off x="0" y="784040"/>
            <a:ext cx="9909172" cy="6771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Overview:</a:t>
            </a:r>
          </a:p>
          <a:p>
            <a:pPr lvl="1">
              <a:buFont typeface="Courier New"/>
              <a:buChar char="o"/>
            </a:pPr>
            <a:r>
              <a:rPr lang="en-US" b="1">
                <a:ea typeface="+mn-lt"/>
                <a:cs typeface="+mn-lt"/>
              </a:rPr>
              <a:t> LQR</a:t>
            </a:r>
            <a:r>
              <a:rPr lang="en-US">
                <a:ea typeface="+mn-lt"/>
                <a:cs typeface="+mn-lt"/>
              </a:rPr>
              <a:t> is an optimal control strategy used to minimize a </a:t>
            </a:r>
            <a:r>
              <a:rPr lang="en-US" b="1">
                <a:ea typeface="+mn-lt"/>
                <a:cs typeface="+mn-lt"/>
              </a:rPr>
              <a:t>cost function</a:t>
            </a:r>
            <a:r>
              <a:rPr lang="en-US">
                <a:ea typeface="+mn-lt"/>
                <a:cs typeface="+mn-lt"/>
              </a:rPr>
              <a:t> that balances </a:t>
            </a:r>
            <a:r>
              <a:rPr lang="en-US" b="1">
                <a:ea typeface="+mn-lt"/>
                <a:cs typeface="+mn-lt"/>
              </a:rPr>
              <a:t>tracking error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control effort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 Designed for </a:t>
            </a:r>
            <a:r>
              <a:rPr lang="en-US" b="1">
                <a:ea typeface="+mn-lt"/>
                <a:cs typeface="+mn-lt"/>
              </a:rPr>
              <a:t>linear systems</a:t>
            </a:r>
            <a:r>
              <a:rPr lang="en-US">
                <a:ea typeface="+mn-lt"/>
                <a:cs typeface="+mn-lt"/>
              </a:rPr>
              <a:t>, LQR helps in generating smooth control inputs to follow a reference trajectory.</a:t>
            </a:r>
          </a:p>
          <a:p>
            <a:r>
              <a:rPr lang="en-US" sz="2800">
                <a:ea typeface="Calibri" panose="020F0502020204030204"/>
                <a:cs typeface="Calibri" panose="020F0502020204030204"/>
              </a:rPr>
              <a:t>LQR Design:</a:t>
            </a:r>
          </a:p>
          <a:p>
            <a:pPr marL="342900" indent="-342900">
              <a:buAutoNum type="arabicPeriod"/>
            </a:pPr>
            <a:r>
              <a:rPr lang="en-US" b="1">
                <a:ea typeface="Calibri" panose="020F0502020204030204"/>
                <a:cs typeface="Calibri" panose="020F0502020204030204"/>
              </a:rPr>
              <a:t> Linearization: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To use the LQR the system first linearized about each</a:t>
            </a:r>
            <a:br>
              <a:rPr lang="en-US">
                <a:ea typeface="Calibri" panose="020F0502020204030204"/>
                <a:cs typeface="Calibri" panose="020F0502020204030204"/>
              </a:rPr>
            </a:br>
            <a:r>
              <a:rPr lang="en-US">
                <a:ea typeface="Calibri" panose="020F0502020204030204"/>
                <a:cs typeface="Calibri" panose="020F0502020204030204"/>
              </a:rPr>
              <a:t> reference pose. This is done by computing the </a:t>
            </a:r>
            <a:br>
              <a:rPr lang="en-US">
                <a:ea typeface="Calibri" panose="020F0502020204030204"/>
                <a:cs typeface="Calibri" panose="020F0502020204030204"/>
              </a:rPr>
            </a:br>
            <a:r>
              <a:rPr lang="en-US">
                <a:ea typeface="Calibri" panose="020F0502020204030204"/>
                <a:cs typeface="Calibri" panose="020F0502020204030204"/>
              </a:rPr>
              <a:t> state-space matrices A and B that define the robot's motion.</a:t>
            </a:r>
          </a:p>
          <a:p>
            <a:r>
              <a:rPr lang="en-US">
                <a:ea typeface="Calibri" panose="020F0502020204030204"/>
                <a:cs typeface="Calibri" panose="020F0502020204030204"/>
              </a:rPr>
              <a:t>2.   </a:t>
            </a:r>
            <a:r>
              <a:rPr lang="en-US" b="1">
                <a:ea typeface="Calibri" panose="020F0502020204030204"/>
                <a:cs typeface="Calibri" panose="020F0502020204030204"/>
              </a:rPr>
              <a:t>Control Law :</a:t>
            </a:r>
            <a:endParaRPr lang="en-US" b="1"/>
          </a:p>
          <a:p>
            <a:pPr marL="742950" lvl="1" indent="-285750">
              <a:buFont typeface="Courier New,monospace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MATLAB's </a:t>
            </a:r>
            <a:r>
              <a:rPr lang="en-US" b="1">
                <a:ea typeface="Calibri" panose="020F0502020204030204"/>
                <a:cs typeface="Calibri" panose="020F0502020204030204"/>
              </a:rPr>
              <a:t>place() </a:t>
            </a:r>
            <a:r>
              <a:rPr lang="en-US">
                <a:ea typeface="Calibri" panose="020F0502020204030204"/>
                <a:cs typeface="Calibri" panose="020F0502020204030204"/>
              </a:rPr>
              <a:t>command is used to place poles of system at desired location for stability and performance.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The control law computes control input µ(t) to reduce the error between the robot's current state and the reference trajectory.</a:t>
            </a:r>
            <a:endParaRPr lang="en-US"/>
          </a:p>
          <a:p>
            <a:pPr marL="742950" lvl="1" indent="-285750">
              <a:buFont typeface="Courier New,monospace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Calibri" panose="020F0502020204030204"/>
                <a:cs typeface="Calibri" panose="020F0502020204030204"/>
              </a:rPr>
              <a:t>3.    </a:t>
            </a:r>
            <a:r>
              <a:rPr lang="en-US" b="1">
                <a:ea typeface="Calibri" panose="020F0502020204030204"/>
                <a:cs typeface="Calibri" panose="020F0502020204030204"/>
              </a:rPr>
              <a:t>Control Input Clamping: </a:t>
            </a:r>
          </a:p>
          <a:p>
            <a:pPr marL="800100" lvl="1" indent="-34290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The control inputs are clamped to ensure the robot operates within its physical </a:t>
            </a:r>
            <a:br>
              <a:rPr lang="en-US">
                <a:ea typeface="Calibri" panose="020F0502020204030204"/>
                <a:cs typeface="Calibri" panose="020F0502020204030204"/>
              </a:rPr>
            </a:br>
            <a:r>
              <a:rPr lang="en-US">
                <a:ea typeface="Calibri" panose="020F0502020204030204"/>
                <a:cs typeface="Calibri" panose="020F0502020204030204"/>
              </a:rPr>
              <a:t>limits.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77FA40-60AF-A374-7A09-70A955D5D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183" y="3051451"/>
            <a:ext cx="3433212" cy="560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CF5BF8-BA6E-8F95-16B9-00BE3B15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035" y="6109681"/>
            <a:ext cx="2171429" cy="3904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052623-560F-ACA9-86B1-DBF358079BBB}"/>
              </a:ext>
            </a:extLst>
          </p:cNvPr>
          <p:cNvSpPr txBox="1"/>
          <p:nvPr/>
        </p:nvSpPr>
        <p:spPr>
          <a:xfrm>
            <a:off x="540686" y="3115"/>
            <a:ext cx="7191322" cy="584775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Controller Design : LQR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94A9C3-5D94-E72E-3143-1AB140F80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115" y="5023526"/>
            <a:ext cx="1709758" cy="4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92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6594-9E91-8BA5-3C6D-9BDE6C38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1E37AB-E122-4DD2-E33B-AA1CAD4C2215}"/>
              </a:ext>
            </a:extLst>
          </p:cNvPr>
          <p:cNvSpPr txBox="1"/>
          <p:nvPr/>
        </p:nvSpPr>
        <p:spPr>
          <a:xfrm>
            <a:off x="580495" y="158317"/>
            <a:ext cx="7113704" cy="369332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Controller Design : MPC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F2CD6-C9A3-35E8-A123-D94309D11DC2}"/>
              </a:ext>
            </a:extLst>
          </p:cNvPr>
          <p:cNvSpPr txBox="1"/>
          <p:nvPr/>
        </p:nvSpPr>
        <p:spPr>
          <a:xfrm>
            <a:off x="0" y="784040"/>
            <a:ext cx="9909172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Overview: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MPC is an advanced control strategy that uses a </a:t>
            </a:r>
            <a:r>
              <a:rPr lang="en-US" b="1">
                <a:ea typeface="+mn-lt"/>
                <a:cs typeface="+mn-lt"/>
              </a:rPr>
              <a:t>prediction model</a:t>
            </a:r>
            <a:r>
              <a:rPr lang="en-US">
                <a:ea typeface="+mn-lt"/>
                <a:cs typeface="+mn-lt"/>
              </a:rPr>
              <a:t> to anticipate future system behavior where it minimizes a </a:t>
            </a:r>
            <a:r>
              <a:rPr lang="en-US" b="1">
                <a:ea typeface="+mn-lt"/>
                <a:cs typeface="+mn-lt"/>
              </a:rPr>
              <a:t>cost function</a:t>
            </a:r>
            <a:r>
              <a:rPr lang="en-US">
                <a:ea typeface="+mn-lt"/>
                <a:cs typeface="+mn-lt"/>
              </a:rPr>
              <a:t> that balances tracking error, control effort, and path proximity over a prediction horizon. 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Unlike traditional controllers, MPC </a:t>
            </a:r>
            <a:r>
              <a:rPr lang="en-US" b="1">
                <a:ea typeface="+mn-lt"/>
                <a:cs typeface="+mn-lt"/>
              </a:rPr>
              <a:t>explicitly handles constraints</a:t>
            </a:r>
            <a:r>
              <a:rPr lang="en-US">
                <a:ea typeface="+mn-lt"/>
                <a:cs typeface="+mn-lt"/>
              </a:rPr>
              <a:t> on system states and control inputs and performs </a:t>
            </a:r>
            <a:r>
              <a:rPr lang="en-US" b="1">
                <a:ea typeface="+mn-lt"/>
                <a:cs typeface="+mn-lt"/>
              </a:rPr>
              <a:t>optimization at each time step</a:t>
            </a:r>
            <a:r>
              <a:rPr lang="en-US">
                <a:ea typeface="+mn-lt"/>
                <a:cs typeface="+mn-lt"/>
              </a:rPr>
              <a:t> to find the optimal control sequence</a:t>
            </a:r>
          </a:p>
          <a:p>
            <a:r>
              <a:rPr lang="en-US" sz="2800">
                <a:ea typeface="Calibri" panose="020F0502020204030204"/>
                <a:cs typeface="Calibri" panose="020F0502020204030204"/>
              </a:rPr>
              <a:t>MPC Design:</a:t>
            </a:r>
          </a:p>
          <a:p>
            <a:pPr marL="342900" indent="-342900">
              <a:buFont typeface="Wingdings"/>
              <a:buChar char="Ø"/>
            </a:pPr>
            <a:r>
              <a:rPr lang="en-US" b="1">
                <a:ea typeface="+mn-lt"/>
                <a:cs typeface="+mn-lt"/>
              </a:rPr>
              <a:t>Prediction Model and Horizons</a:t>
            </a:r>
            <a:r>
              <a:rPr lang="en-US">
                <a:ea typeface="+mn-lt"/>
                <a:cs typeface="+mn-lt"/>
              </a:rPr>
              <a:t>: ○ Our implementation uses a discrete-time unicycle model to predict future robot states:</a:t>
            </a:r>
          </a:p>
          <a:p>
            <a:pPr marL="800100" lvl="1" indent="-3429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Prediction horizon: 25 steps (looking ahead in time)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Control horizon: 8 steps (sequence of control actions optimized)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Ø"/>
            </a:pPr>
            <a:r>
              <a:rPr lang="en-US">
                <a:ea typeface="Calibri" panose="020F0502020204030204"/>
                <a:cs typeface="Calibri" panose="020F0502020204030204"/>
              </a:rPr>
              <a:t>The minimizing cost function J is given by: 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Calibri" panose="020F0502020204030204"/>
                <a:cs typeface="Calibri" panose="020F0502020204030204"/>
              </a:rPr>
              <a:t>  where ek-error to reference(path), N-Prediction horizon , Q ,R ,</a:t>
            </a:r>
            <a:r>
              <a:rPr lang="en-US">
                <a:ea typeface="+mn-lt"/>
                <a:cs typeface="+mn-lt"/>
              </a:rPr>
              <a:t>γ-Weight matrices , d(</a:t>
            </a:r>
            <a:r>
              <a:rPr lang="en-US" err="1">
                <a:ea typeface="+mn-lt"/>
                <a:cs typeface="+mn-lt"/>
              </a:rPr>
              <a:t>zk,P</a:t>
            </a:r>
            <a:r>
              <a:rPr lang="en-US">
                <a:ea typeface="+mn-lt"/>
                <a:cs typeface="+mn-lt"/>
              </a:rPr>
              <a:t>) -distance     to reference.</a:t>
            </a:r>
          </a:p>
          <a:p>
            <a:pPr marL="342900" indent="-342900">
              <a:buFont typeface="Wingdings"/>
              <a:buChar char="Ø"/>
            </a:pPr>
            <a:r>
              <a:rPr lang="en-US" b="1">
                <a:ea typeface="+mn-lt"/>
                <a:cs typeface="+mn-lt"/>
              </a:rPr>
              <a:t>Receding Horizon Control</a:t>
            </a:r>
            <a:r>
              <a:rPr lang="en-US">
                <a:ea typeface="+mn-lt"/>
                <a:cs typeface="+mn-lt"/>
              </a:rPr>
              <a:t>: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 Only the first control input u0  from the optimal sequence is applied.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 The optimization problem is solved again at the next time step</a:t>
            </a:r>
          </a:p>
          <a:p>
            <a:r>
              <a:rPr lang="en-US">
                <a:ea typeface="+mn-lt"/>
                <a:cs typeface="+mn-lt"/>
              </a:rPr>
              <a:t>  with updated state measurements.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DAF78-906D-C9E6-3AF8-4F15BB96A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9000"/>
                    </a14:imgEffect>
                    <a14:imgEffect>
                      <a14:brightnessContrast bright="3000" contrast="1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92932" y="3286829"/>
            <a:ext cx="1851187" cy="673605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1DB067-E0C6-7029-74E8-786F0AEF69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contrast="-41000"/>
                    </a14:imgEffect>
                  </a14:imgLayer>
                </a14:imgProps>
              </a:ext>
            </a:extLst>
          </a:blip>
          <a:srcRect l="32500" t="24444" r="7957"/>
          <a:stretch/>
        </p:blipFill>
        <p:spPr>
          <a:xfrm>
            <a:off x="6271450" y="4206440"/>
            <a:ext cx="2925818" cy="510857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A51613-B733-093C-392B-8692CC5EA21F}"/>
              </a:ext>
            </a:extLst>
          </p:cNvPr>
          <p:cNvSpPr txBox="1"/>
          <p:nvPr/>
        </p:nvSpPr>
        <p:spPr>
          <a:xfrm>
            <a:off x="540686" y="3115"/>
            <a:ext cx="7191322" cy="584775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Controller Design : MPC </a:t>
            </a:r>
          </a:p>
        </p:txBody>
      </p:sp>
    </p:spTree>
    <p:extLst>
      <p:ext uri="{BB962C8B-B14F-4D97-AF65-F5344CB8AC3E}">
        <p14:creationId xmlns:p14="http://schemas.microsoft.com/office/powerpoint/2010/main" val="485142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67FE-A4B8-CD64-7F7E-D26A1576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933BD-B00F-D74E-86B9-C31B4685C097}"/>
              </a:ext>
            </a:extLst>
          </p:cNvPr>
          <p:cNvSpPr txBox="1"/>
          <p:nvPr/>
        </p:nvSpPr>
        <p:spPr>
          <a:xfrm>
            <a:off x="2448318" y="92933"/>
            <a:ext cx="5006045" cy="523220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ea typeface="Calibri"/>
                <a:cs typeface="Calibri"/>
              </a:rPr>
              <a:t>Controller Design : SMC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77286-1A88-43A9-D608-3003993D0BE5}"/>
              </a:ext>
            </a:extLst>
          </p:cNvPr>
          <p:cNvSpPr txBox="1"/>
          <p:nvPr/>
        </p:nvSpPr>
        <p:spPr>
          <a:xfrm>
            <a:off x="13659" y="789252"/>
            <a:ext cx="9879765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ea typeface="Calibri"/>
                <a:cs typeface="Calibri"/>
              </a:rPr>
              <a:t>OVERVIEW:</a:t>
            </a:r>
          </a:p>
          <a:p>
            <a:r>
              <a:rPr lang="en-US">
                <a:ea typeface="+mn-lt"/>
                <a:cs typeface="+mn-lt"/>
              </a:rPr>
              <a:t>Sliding Mode Control (SMC) is a robust nonlinear control method used to drive and maintain systems on a predefined equilibrium surface ("sliding surface"). It's widely used due to its robustness against uncertainties, disturbances, and model inaccuracies.</a:t>
            </a:r>
          </a:p>
          <a:p>
            <a:r>
              <a:rPr lang="en-US" sz="2800" b="1">
                <a:ea typeface="Calibri" panose="020F0502020204030204"/>
                <a:cs typeface="Calibri" panose="020F0502020204030204"/>
              </a:rPr>
              <a:t>SEESAW ANALOGY: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Imagine a seesaw representing the sliding surface (s=0)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The objective: Keep the child (system state) balanced exactly at the pivot (equilibrium)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Sudden pushes can cause rapid bounces (chattering), harmful to sensors/actuators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Parents gently guiding the child = </a:t>
            </a:r>
            <a:r>
              <a:rPr lang="en-US" b="1">
                <a:ea typeface="Calibri" panose="020F0502020204030204"/>
                <a:cs typeface="Calibri" panose="020F0502020204030204"/>
              </a:rPr>
              <a:t>boundary layer </a:t>
            </a:r>
            <a:r>
              <a:rPr lang="en-US">
                <a:ea typeface="Calibri" panose="020F0502020204030204"/>
                <a:cs typeface="Calibri" panose="020F0502020204030204"/>
              </a:rPr>
              <a:t>(Smooth approximation) reducing chattering</a:t>
            </a:r>
          </a:p>
          <a:p>
            <a:r>
              <a:rPr lang="en-US" sz="2800" b="1">
                <a:ea typeface="Calibri" panose="020F0502020204030204"/>
                <a:cs typeface="Calibri" panose="020F0502020204030204"/>
              </a:rPr>
              <a:t>MATHEMATICAL IMPLEMENTATION: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0482E97-9222-0B13-806C-EA006BA545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29" t="1902" r="1029" b="7609"/>
          <a:stretch/>
        </p:blipFill>
        <p:spPr>
          <a:xfrm>
            <a:off x="96220" y="4069839"/>
            <a:ext cx="4942588" cy="2422994"/>
          </a:xfrm>
          <a:prstGeom prst="rect">
            <a:avLst/>
          </a:prstGeom>
        </p:spPr>
      </p:pic>
      <p:pic>
        <p:nvPicPr>
          <p:cNvPr id="6" name="Picture 5" descr="Mother with child on seesaw and home">
            <a:extLst>
              <a:ext uri="{FF2B5EF4-FFF2-40B4-BE49-F238E27FC236}">
                <a16:creationId xmlns:a16="http://schemas.microsoft.com/office/drawing/2014/main" id="{B516C1A1-B6F1-AB1A-6174-A76A65B26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507" y="3760345"/>
            <a:ext cx="2641451" cy="287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84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39FB8F-51DA-1B67-9570-458C43A7F6D5}"/>
              </a:ext>
            </a:extLst>
          </p:cNvPr>
          <p:cNvSpPr txBox="1"/>
          <p:nvPr/>
        </p:nvSpPr>
        <p:spPr>
          <a:xfrm>
            <a:off x="1961635" y="105986"/>
            <a:ext cx="5958127" cy="523220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ea typeface="Calibri"/>
                <a:cs typeface="Calibri"/>
              </a:rPr>
              <a:t>Controller</a:t>
            </a:r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b="1">
                <a:solidFill>
                  <a:schemeClr val="bg1"/>
                </a:solidFill>
                <a:ea typeface="Calibri"/>
                <a:cs typeface="Calibri"/>
              </a:rPr>
              <a:t>Design : PID 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D2537-C443-212D-FB6E-7B540996A35A}"/>
              </a:ext>
            </a:extLst>
          </p:cNvPr>
          <p:cNvSpPr txBox="1"/>
          <p:nvPr/>
        </p:nvSpPr>
        <p:spPr>
          <a:xfrm>
            <a:off x="-808" y="736106"/>
            <a:ext cx="9907614" cy="70788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Overview </a:t>
            </a:r>
            <a:endParaRPr lang="en-US" sz="28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PID (Proportional–Integral–Derivative) is a real-time feedback controller used to minimize tracking error.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Calculates control inputs based on the difference between the robot’s current state and the desired waypoint.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Ideal for systems where simplicity, speed, and responsiveness are key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 </a:t>
            </a:r>
            <a:r>
              <a:rPr lang="en-US" sz="2800">
                <a:ea typeface="Calibri"/>
                <a:cs typeface="Calibri"/>
              </a:rPr>
              <a:t>Control Law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Key Features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Lightweight and efficient, suitable for fast, reactive control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Implements anti-windup and control input limits for stability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need for system modeling, linearization, or optimization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 sz="2800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2C780-610F-876F-2928-720DC261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58" y="3311937"/>
            <a:ext cx="9898860" cy="164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4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6C9A-EB86-9D9F-3346-FE67DCAC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D6CAF-FCDE-8F3D-2FEE-20EC9E5C2F66}"/>
              </a:ext>
            </a:extLst>
          </p:cNvPr>
          <p:cNvSpPr txBox="1"/>
          <p:nvPr/>
        </p:nvSpPr>
        <p:spPr>
          <a:xfrm>
            <a:off x="580495" y="158317"/>
            <a:ext cx="7113704" cy="369332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Results</a:t>
            </a:r>
            <a:endParaRPr lang="en-US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0905720-6AB2-463E-B667-5D9D91085DCC}"/>
              </a:ext>
              <a:ext uri="{147F2762-F138-4A5C-976F-8EAC2B608ADB}">
                <a16:predDERef xmlns:a16="http://schemas.microsoft.com/office/drawing/2014/main" pred="{08EB7DA9-2BFB-4B1D-8BA4-9BC7432249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3935287"/>
              </p:ext>
            </p:extLst>
          </p:nvPr>
        </p:nvGraphicFramePr>
        <p:xfrm>
          <a:off x="2162175" y="3940181"/>
          <a:ext cx="5262814" cy="2765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8EB7DA9-2BFB-4B1D-8BA4-9BC7432249A9}"/>
              </a:ext>
              <a:ext uri="{147F2762-F138-4A5C-976F-8EAC2B608ADB}">
                <a16:predDERef xmlns:a16="http://schemas.microsoft.com/office/drawing/2014/main" pred="{A63D59E4-2DF3-F1F1-449D-A09F6F065B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6095579"/>
              </p:ext>
            </p:extLst>
          </p:nvPr>
        </p:nvGraphicFramePr>
        <p:xfrm>
          <a:off x="-1504" y="795319"/>
          <a:ext cx="4949992" cy="3143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63D59E4-2DF3-F1F1-449D-A09F6F065BEB}"/>
              </a:ext>
              <a:ext uri="{147F2762-F138-4A5C-976F-8EAC2B608ADB}">
                <a16:predDERef xmlns:a16="http://schemas.microsoft.com/office/drawing/2014/main" pred="{0797FF8C-5A62-2C70-A8BD-EC56B9BB48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057830"/>
              </p:ext>
            </p:extLst>
          </p:nvPr>
        </p:nvGraphicFramePr>
        <p:xfrm>
          <a:off x="4951495" y="784979"/>
          <a:ext cx="4949993" cy="3013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28840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0C58E6-F8F0-29FB-6CB1-6EC281610B2B}"/>
              </a:ext>
            </a:extLst>
          </p:cNvPr>
          <p:cNvSpPr txBox="1"/>
          <p:nvPr/>
        </p:nvSpPr>
        <p:spPr>
          <a:xfrm>
            <a:off x="1225587" y="4978553"/>
            <a:ext cx="74470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latin typeface="Arial Nova"/>
                <a:ea typeface="Calibri"/>
                <a:cs typeface="Calibri"/>
              </a:rPr>
              <a:t>Questions please...  </a:t>
            </a:r>
            <a:endParaRPr lang="en-US" sz="36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45EDA-EF6B-FE8A-7A1F-804DA479B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863" y="1455978"/>
            <a:ext cx="220027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63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49C4F1391EF4E91DADBE339433317" ma:contentTypeVersion="10" ma:contentTypeDescription="Create a new document." ma:contentTypeScope="" ma:versionID="a0149a4727062861a8bb9c10ea864c1a">
  <xsd:schema xmlns:xsd="http://www.w3.org/2001/XMLSchema" xmlns:xs="http://www.w3.org/2001/XMLSchema" xmlns:p="http://schemas.microsoft.com/office/2006/metadata/properties" xmlns:ns2="3b5308cb-3060-4ed7-9c82-1811e9dcbcd1" xmlns:ns3="6b997f6b-306e-414f-8b14-3eb78e703bb6" targetNamespace="http://schemas.microsoft.com/office/2006/metadata/properties" ma:root="true" ma:fieldsID="b90fac915579a2b451b7ae7938f579c3" ns2:_="" ns3:_="">
    <xsd:import namespace="3b5308cb-3060-4ed7-9c82-1811e9dcbcd1"/>
    <xsd:import namespace="6b997f6b-306e-414f-8b14-3eb78e703b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5308cb-3060-4ed7-9c82-1811e9dcbc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97f6b-306e-414f-8b14-3eb78e703bb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FA346A-48F9-4F05-B424-8453DAA5296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5AA174D-2AF9-4053-A119-6A885B582D36}">
  <ds:schemaRefs>
    <ds:schemaRef ds:uri="3b5308cb-3060-4ed7-9c82-1811e9dcbcd1"/>
    <ds:schemaRef ds:uri="6b997f6b-306e-414f-8b14-3eb78e703b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B1B899A-5161-4B6D-8CE1-24DF1F3B29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1_Office Theme</vt:lpstr>
      <vt:lpstr>Maze-Solving Robot using PID, LQR, MPC, and SMC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Curtin, Trish</dc:creator>
  <cp:revision>4</cp:revision>
  <dcterms:created xsi:type="dcterms:W3CDTF">2021-11-22T21:39:09Z</dcterms:created>
  <dcterms:modified xsi:type="dcterms:W3CDTF">2025-04-14T04:13:25Z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0x01010077249C4F1391EF4E91DADBE339433317</vt:lpwstr>
  </property>
</Properties>
</file>